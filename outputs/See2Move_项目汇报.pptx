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E4C8BF6-A71D-4BCC-91AE-E29F7A038E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7F1A6A-A401-4047-A572-C98D3FE04542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7620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32A8FC-B8CB-42B6-BB6C-C9D4F147CDA0}"/>
              </a:ext>
            </a:extLst>
          </p:cNvPr>
          <p:cNvSpPr>
            <a:spLocks noGrp="1"/>
          </p:cNvSpPr>
          <p:nvPr/>
        </p:nvSpPr>
        <p:spPr>
          <a:xfrm>
            <a:off x="704850" y="1123950"/>
            <a:ext cx="5810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F629E7-8327-4C01-B936-6037624B5BC7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1428750" cy="571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91C57B-2644-4DCC-8C6A-775FE54BD7B6}"/>
              </a:ext>
            </a:extLst>
          </p:cNvPr>
          <p:cNvSpPr>
            <a:spLocks noGrp="1"/>
          </p:cNvSpPr>
          <p:nvPr/>
        </p:nvSpPr>
        <p:spPr>
          <a:xfrm>
            <a:off x="742950" y="2419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面向摆放模型的可见性驱动相机运动预测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EF918A-491E-48B4-B45C-62F57546C307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Project Report · AI2-THOR · Qwen3-VL · RGB-D · Camera Pose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3AD1E8-DA31-4A01-AF68-54B42065ABE3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多模态智能系统课程 · 期末汇报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CD98D8-BA4C-4B1E-BDAB-411A1AA96244}"/>
              </a:ext>
            </a:extLst>
          </p:cNvPr>
          <p:cNvSpPr>
            <a:spLocks noGrp="1"/>
          </p:cNvSpPr>
          <p:nvPr/>
        </p:nvSpPr>
        <p:spPr>
          <a:xfrm>
            <a:off x="762000" y="5353050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李伟嘉 · 孙凯 · 王骏  |  指导教师：刘阳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50B05C2-1683-455D-9582-B581EB16D061}"/>
              </a:ext>
            </a:extLst>
          </p:cNvPr>
          <p:cNvSpPr>
            <a:spLocks noGrp="1"/>
          </p:cNvSpPr>
          <p:nvPr/>
        </p:nvSpPr>
        <p:spPr>
          <a:xfrm>
            <a:off x="8858250" y="895350"/>
            <a:ext cx="2000250" cy="2000250"/>
          </a:xfrm>
          <a:prstGeom prst="ellipse">
            <a:avLst/>
          </a:prstGeom>
          <a:solidFill>
            <a:srgbClr val="6C63FF"/>
          </a:solidFill>
          <a:ln w="0">
            <a:solidFill>
              <a:srgbClr val="6C63FF"/>
            </a:solidFill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AEFFF1C-D60C-4E5B-8836-76145E7DAEB6}"/>
              </a:ext>
            </a:extLst>
          </p:cNvPr>
          <p:cNvSpPr>
            <a:spLocks noGrp="1"/>
          </p:cNvSpPr>
          <p:nvPr/>
        </p:nvSpPr>
        <p:spPr>
          <a:xfrm>
            <a:off x="9715500" y="3181350"/>
            <a:ext cx="1428750" cy="1428750"/>
          </a:xfrm>
          <a:prstGeom prst="ellipse">
            <a:avLst/>
          </a:prstGeom>
          <a:solidFill>
            <a:srgbClr val="00A9E0"/>
          </a:solidFill>
          <a:ln w="0">
            <a:solidFill>
              <a:srgbClr val="00A9E0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63CFC04-B879-420D-921F-72343D444230}"/>
              </a:ext>
            </a:extLst>
          </p:cNvPr>
          <p:cNvSpPr>
            <a:spLocks noGrp="1"/>
          </p:cNvSpPr>
          <p:nvPr/>
        </p:nvSpPr>
        <p:spPr>
          <a:xfrm>
            <a:off x="7810500" y="4000500"/>
            <a:ext cx="838200" cy="838200"/>
          </a:xfrm>
          <a:prstGeom prst="ellipse">
            <a:avLst/>
          </a:prstGeom>
          <a:solidFill>
            <a:srgbClr val="FFB000"/>
          </a:solidFill>
          <a:ln w="0">
            <a:solidFill>
              <a:srgbClr val="FFB0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401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057E44C6-6158-4D32-9AE0-FDC73CB98C4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00 PROJECT OVERVIEW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81409E-665D-4739-B5E2-088A743D602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项目摘要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10BF45-7308-4C5E-A631-F92551C5EBCC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4C56FE-57CF-4A2F-8B63-6BFA60F3D240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从受遮挡视角出发，主动预测下一步相机运动，为摆放模型提供更清晰观察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C3D4EA-94FB-47CD-A1C0-1A853EB4A106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7CD23EA-4403-474A-8DD7-A200B0B7DB81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EBF557-0905-4318-85CC-276B34010ED1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5,000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983621-DF08-4DF0-96CD-D00695369F87}"/>
              </a:ext>
            </a:extLst>
          </p:cNvPr>
          <p:cNvSpPr>
            <a:spLocks noGrp="1"/>
          </p:cNvSpPr>
          <p:nvPr/>
        </p:nvSpPr>
        <p:spPr>
          <a:xfrm>
            <a:off x="876300" y="2514600"/>
            <a:ext cx="1962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AI2-THOR records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581944-196E-4E39-8044-E784693AE637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2120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120 个场景，9 </a:t>
            </a:r>
            <a:r>
              <a:rPr sz="97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个动作，包含</a:t>
            </a:r>
            <a:r>
              <a:rPr sz="97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Stay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8F7955C-32DD-480B-83F6-549C9A2D22DA}"/>
              </a:ext>
            </a:extLst>
          </p:cNvPr>
          <p:cNvSpPr>
            <a:spLocks noGrp="1"/>
          </p:cNvSpPr>
          <p:nvPr/>
        </p:nvSpPr>
        <p:spPr>
          <a:xfrm>
            <a:off x="3314700" y="16954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59F907-2CEB-48C9-A635-9A3E86365D73}"/>
              </a:ext>
            </a:extLst>
          </p:cNvPr>
          <p:cNvSpPr>
            <a:spLocks noGrp="1"/>
          </p:cNvSpPr>
          <p:nvPr/>
        </p:nvSpPr>
        <p:spPr>
          <a:xfrm>
            <a:off x="3524250" y="188595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rPr>
              <a:t>0.679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EDEEF0-D0A3-45CD-9C4E-F584143A91D1}"/>
              </a:ext>
            </a:extLst>
          </p:cNvPr>
          <p:cNvSpPr>
            <a:spLocks noGrp="1"/>
          </p:cNvSpPr>
          <p:nvPr/>
        </p:nvSpPr>
        <p:spPr>
          <a:xfrm>
            <a:off x="3524250" y="2514600"/>
            <a:ext cx="1962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Positive gain rate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0C1E4D-3E43-4BC0-B602-98C9A70E530A}"/>
              </a:ext>
            </a:extLst>
          </p:cNvPr>
          <p:cNvSpPr>
            <a:spLocks noGrp="1"/>
          </p:cNvSpPr>
          <p:nvPr/>
        </p:nvSpPr>
        <p:spPr>
          <a:xfrm>
            <a:off x="3524250" y="2819400"/>
            <a:ext cx="211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Full Qwen3-VL gain-score, t=200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CF614E1-3E63-4811-841C-D7CB692A1054}"/>
              </a:ext>
            </a:extLst>
          </p:cNvPr>
          <p:cNvSpPr>
            <a:spLocks noGrp="1"/>
          </p:cNvSpPr>
          <p:nvPr/>
        </p:nvSpPr>
        <p:spPr>
          <a:xfrm>
            <a:off x="5962650" y="16954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AAAF87-0C2D-4CA1-B5A3-F89D6F91C32C}"/>
              </a:ext>
            </a:extLst>
          </p:cNvPr>
          <p:cNvSpPr>
            <a:spLocks noGrp="1"/>
          </p:cNvSpPr>
          <p:nvPr/>
        </p:nvSpPr>
        <p:spPr>
          <a:xfrm>
            <a:off x="6172200" y="188595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1777.62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9B5056-1403-41F4-ADB7-23D34480A5AF}"/>
              </a:ext>
            </a:extLst>
          </p:cNvPr>
          <p:cNvSpPr>
            <a:spLocks noGrp="1"/>
          </p:cNvSpPr>
          <p:nvPr/>
        </p:nvSpPr>
        <p:spPr>
          <a:xfrm>
            <a:off x="6172200" y="2514600"/>
            <a:ext cx="1962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Mean gain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C00678-379C-4436-A9E1-66F374515090}"/>
              </a:ext>
            </a:extLst>
          </p:cNvPr>
          <p:cNvSpPr>
            <a:spLocks noGrp="1"/>
          </p:cNvSpPr>
          <p:nvPr/>
        </p:nvSpPr>
        <p:spPr>
          <a:xfrm>
            <a:off x="6172200" y="2819400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平均真实可见性收益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3323F65-C4B2-45D2-A6F2-828285E1D0C3}"/>
              </a:ext>
            </a:extLst>
          </p:cNvPr>
          <p:cNvSpPr>
            <a:spLocks noGrp="1"/>
          </p:cNvSpPr>
          <p:nvPr/>
        </p:nvSpPr>
        <p:spPr>
          <a:xfrm>
            <a:off x="8610600" y="1695450"/>
            <a:ext cx="2381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B2524E-F89E-482F-A6C4-6C7C029640EA}"/>
              </a:ext>
            </a:extLst>
          </p:cNvPr>
          <p:cNvSpPr>
            <a:spLocks noGrp="1"/>
          </p:cNvSpPr>
          <p:nvPr/>
        </p:nvSpPr>
        <p:spPr>
          <a:xfrm>
            <a:off x="8820150" y="188595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rPr>
              <a:t>0.456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9EC67F-3885-4CFF-A861-8C269FA0F794}"/>
              </a:ext>
            </a:extLst>
          </p:cNvPr>
          <p:cNvSpPr>
            <a:spLocks noGrp="1"/>
          </p:cNvSpPr>
          <p:nvPr/>
        </p:nvSpPr>
        <p:spPr>
          <a:xfrm>
            <a:off x="8820150" y="2514600"/>
            <a:ext cx="1962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Accuracy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A89F34-B5D9-4D95-B2D0-A41FD0ECD2B2}"/>
              </a:ext>
            </a:extLst>
          </p:cNvPr>
          <p:cNvSpPr>
            <a:spLocks noGrp="1"/>
          </p:cNvSpPr>
          <p:nvPr/>
        </p:nvSpPr>
        <p:spPr>
          <a:xfrm>
            <a:off x="8820150" y="2819400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不是唯一目标，更关注收益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1D3AEC1-86C2-4037-AD50-74EAC4256B3F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3314700" cy="1524000"/>
          </a:xfrm>
          <a:prstGeom prst="roundRect">
            <a:avLst>
              <a:gd name="adj" fmla="val 7500"/>
            </a:avLst>
          </a:prstGeom>
          <a:solidFill>
            <a:srgbClr val="E4F7FC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D25A66-8391-4E53-A943-25EBCAD3F2B2}"/>
              </a:ext>
            </a:extLst>
          </p:cNvPr>
          <p:cNvSpPr>
            <a:spLocks noGrp="1"/>
          </p:cNvSpPr>
          <p:nvPr/>
        </p:nvSpPr>
        <p:spPr>
          <a:xfrm>
            <a:off x="838200" y="3886200"/>
            <a:ext cx="57150" cy="4000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1D3DB1-1FEC-406E-9803-D72255F39DAA}"/>
              </a:ext>
            </a:extLst>
          </p:cNvPr>
          <p:cNvSpPr>
            <a:spLocks noGrp="1"/>
          </p:cNvSpPr>
          <p:nvPr/>
        </p:nvSpPr>
        <p:spPr>
          <a:xfrm>
            <a:off x="990600" y="3867150"/>
            <a:ext cx="281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691CFC-FF41-4996-A81E-ABCBA3714E57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8194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输入文本指令、RGB、深度图和相机位姿，输出下一步相机动作或 Stay。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A4AB58F-9E19-4977-AEB8-6B71B0C10BD0}"/>
              </a:ext>
            </a:extLst>
          </p:cNvPr>
          <p:cNvSpPr>
            <a:spLocks noGrp="1"/>
          </p:cNvSpPr>
          <p:nvPr/>
        </p:nvSpPr>
        <p:spPr>
          <a:xfrm>
            <a:off x="4438650" y="3714750"/>
            <a:ext cx="3314700" cy="1524000"/>
          </a:xfrm>
          <a:prstGeom prst="roundRect">
            <a:avLst>
              <a:gd name="adj" fmla="val 7500"/>
            </a:avLst>
          </a:prstGeom>
          <a:solidFill>
            <a:srgbClr val="EEEFFE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074E1DB-3ED2-4B1B-8B7E-058430D07D18}"/>
              </a:ext>
            </a:extLst>
          </p:cNvPr>
          <p:cNvSpPr>
            <a:spLocks noGrp="1"/>
          </p:cNvSpPr>
          <p:nvPr/>
        </p:nvSpPr>
        <p:spPr>
          <a:xfrm>
            <a:off x="4610100" y="3886200"/>
            <a:ext cx="57150" cy="40005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8DB5F6-1641-4F4A-8881-6ADA4B0C27B4}"/>
              </a:ext>
            </a:extLst>
          </p:cNvPr>
          <p:cNvSpPr>
            <a:spLocks noGrp="1"/>
          </p:cNvSpPr>
          <p:nvPr/>
        </p:nvSpPr>
        <p:spPr>
          <a:xfrm>
            <a:off x="4762500" y="3867150"/>
            <a:ext cx="281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关键方法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1B3A7C7-822A-4373-958C-0BBF5A46D068}"/>
              </a:ext>
            </a:extLst>
          </p:cNvPr>
          <p:cNvSpPr>
            <a:spLocks noGrp="1"/>
          </p:cNvSpPr>
          <p:nvPr/>
        </p:nvSpPr>
        <p:spPr>
          <a:xfrm>
            <a:off x="4762500" y="4210050"/>
            <a:ext cx="28194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使用 Qwen3-VL hidden state + Depth CNN + Pose MLP，直接预测每个动作的 gain score。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9724CA1-0B3F-44C8-8EE2-2B15009A9AEA}"/>
              </a:ext>
            </a:extLst>
          </p:cNvPr>
          <p:cNvSpPr>
            <a:spLocks noGrp="1"/>
          </p:cNvSpPr>
          <p:nvPr/>
        </p:nvSpPr>
        <p:spPr>
          <a:xfrm>
            <a:off x="8210550" y="3714750"/>
            <a:ext cx="2781300" cy="1524000"/>
          </a:xfrm>
          <a:prstGeom prst="roundRect">
            <a:avLst>
              <a:gd name="adj" fmla="val 7500"/>
            </a:avLst>
          </a:prstGeom>
          <a:solidFill>
            <a:srgbClr val="FFF5D6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63C4D3D-9F25-4FAD-9F26-4907A6DC863F}"/>
              </a:ext>
            </a:extLst>
          </p:cNvPr>
          <p:cNvSpPr>
            <a:spLocks noGrp="1"/>
          </p:cNvSpPr>
          <p:nvPr/>
        </p:nvSpPr>
        <p:spPr>
          <a:xfrm>
            <a:off x="8382000" y="3886200"/>
            <a:ext cx="57150" cy="4000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DDC8A6-1242-4C77-B203-411474EF3C40}"/>
              </a:ext>
            </a:extLst>
          </p:cNvPr>
          <p:cNvSpPr>
            <a:spLocks noGrp="1"/>
          </p:cNvSpPr>
          <p:nvPr/>
        </p:nvSpPr>
        <p:spPr>
          <a:xfrm>
            <a:off x="8534400" y="3867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项目定位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F0D378A-3FFC-4BBB-A400-2B16A2873393}"/>
              </a:ext>
            </a:extLst>
          </p:cNvPr>
          <p:cNvSpPr>
            <a:spLocks noGrp="1"/>
          </p:cNvSpPr>
          <p:nvPr/>
        </p:nvSpPr>
        <p:spPr>
          <a:xfrm>
            <a:off x="8534400" y="4210050"/>
            <a:ext cx="2286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不是长程导航；是 SceneReVis 等摆放模型前的主动观察模块。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1E7225-92AF-425F-9F4E-4E3379EC5C3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0254C79-EEA1-4456-A5A6-7C648B191E3C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3EE6416-C1D0-4D8B-B248-94816DEA9847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954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8D1C0E7E-0F3B-49B1-A9C1-FA20B993434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01 MOTIVATION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CDCED8-9C81-4E6A-8F3A-F3E563800B9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研究背景与动机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89D834-04C7-4589-B19E-C1E804F828AB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703057-2F35-42ED-AB9A-650AFA87CC2D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TA/三维场景编辑中，很多摆放任务首先需要“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看清楚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”，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而不是直接操作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3E563B-D9A2-466A-B881-408F435794AD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A36462-E6DB-440C-AA5A-DEE6A7D7BA7A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FFF5D6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813666-45D3-4D7D-AA08-7FB18814CF73}"/>
              </a:ext>
            </a:extLst>
          </p:cNvPr>
          <p:cNvSpPr>
            <a:spLocks noGrp="1"/>
          </p:cNvSpPr>
          <p:nvPr/>
        </p:nvSpPr>
        <p:spPr>
          <a:xfrm>
            <a:off x="838200" y="1790700"/>
            <a:ext cx="57150" cy="4000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B5D219-A489-430F-939C-A57139DA466F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当前视角可能被遮挡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95AD2E-9F5D-4EAF-AE2F-6EEC3808260A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2743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桌面、柜体、床架等遮挡会让摆放模型无法判断可用空间和支撑关系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D9BE020-4372-4BFD-80D7-783499074765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E4F7FC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09561A-2E4B-4E9A-880F-B09231BE5A34}"/>
              </a:ext>
            </a:extLst>
          </p:cNvPr>
          <p:cNvSpPr>
            <a:spLocks noGrp="1"/>
          </p:cNvSpPr>
          <p:nvPr/>
        </p:nvSpPr>
        <p:spPr>
          <a:xfrm>
            <a:off x="4648200" y="1790700"/>
            <a:ext cx="57150" cy="4000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20BAB1-4267-40CE-A58D-8441878BF253}"/>
              </a:ext>
            </a:extLst>
          </p:cNvPr>
          <p:cNvSpPr>
            <a:spLocks noGrp="1"/>
          </p:cNvSpPr>
          <p:nvPr/>
        </p:nvSpPr>
        <p:spPr>
          <a:xfrm>
            <a:off x="4800600" y="17716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仿真/DCC 有天然 3D 信号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2AD67-22BA-4A26-9F09-0D7D31FD0E98}"/>
              </a:ext>
            </a:extLst>
          </p:cNvPr>
          <p:cNvSpPr>
            <a:spLocks noGrp="1"/>
          </p:cNvSpPr>
          <p:nvPr/>
        </p:nvSpPr>
        <p:spPr>
          <a:xfrm>
            <a:off x="4800600" y="2114550"/>
            <a:ext cx="2743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depth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buffer、camera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pose、mesh、instance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id、object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transform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可直接获取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817D78-E065-43F3-BAF9-F37882986978}"/>
              </a:ext>
            </a:extLst>
          </p:cNvPr>
          <p:cNvSpPr>
            <a:spLocks noGrp="1"/>
          </p:cNvSpPr>
          <p:nvPr/>
        </p:nvSpPr>
        <p:spPr>
          <a:xfrm>
            <a:off x="8286750" y="161925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E5FAF1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9A3EA6-02FC-42DB-BB01-37112D30C0F5}"/>
              </a:ext>
            </a:extLst>
          </p:cNvPr>
          <p:cNvSpPr>
            <a:spLocks noGrp="1"/>
          </p:cNvSpPr>
          <p:nvPr/>
        </p:nvSpPr>
        <p:spPr>
          <a:xfrm>
            <a:off x="8458200" y="1790700"/>
            <a:ext cx="57150" cy="400050"/>
          </a:xfrm>
          <a:prstGeom prst="rect">
            <a:avLst/>
          </a:prstGeom>
          <a:solidFill>
            <a:srgbClr val="2CCB8E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5263C8-DC72-4805-A22B-BADAE38D072B}"/>
              </a:ext>
            </a:extLst>
          </p:cNvPr>
          <p:cNvSpPr>
            <a:spLocks noGrp="1"/>
          </p:cNvSpPr>
          <p:nvPr/>
        </p:nvSpPr>
        <p:spPr>
          <a:xfrm>
            <a:off x="8610600" y="17716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为摆放模型服务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F8DBE8-9EC5-47FD-9F5A-5A1971D736AF}"/>
              </a:ext>
            </a:extLst>
          </p:cNvPr>
          <p:cNvSpPr>
            <a:spLocks noGrp="1"/>
          </p:cNvSpPr>
          <p:nvPr/>
        </p:nvSpPr>
        <p:spPr>
          <a:xfrm>
            <a:off x="8610600" y="2114550"/>
            <a:ext cx="2362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不负责生成摆放位置，而是先寻找更有信息量的观察视角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93E321-83DE-4F2B-93D9-EBCE05258028}"/>
              </a:ext>
            </a:extLst>
          </p:cNvPr>
          <p:cNvSpPr>
            <a:spLocks noGrp="1"/>
          </p:cNvSpPr>
          <p:nvPr/>
        </p:nvSpPr>
        <p:spPr>
          <a:xfrm>
            <a:off x="762000" y="3667125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典型场景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F50691-B531-4239-8109-8BFF0951A5FA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5581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“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想把椅子放到桌子下方，但当前视角看不到桌下空间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”</a:t>
            </a:r>
          </a:p>
          <a:p>
            <a:endParaRPr sz="28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defRPr sz="15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如果下游模型只能看到受遮挡视角，空间可用性、目标边界和局部几何都会不可靠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A20C919-9EAB-41FD-92BD-2242BFF92F3C}"/>
              </a:ext>
            </a:extLst>
          </p:cNvPr>
          <p:cNvSpPr>
            <a:spLocks noGrp="1"/>
          </p:cNvSpPr>
          <p:nvPr/>
        </p:nvSpPr>
        <p:spPr>
          <a:xfrm>
            <a:off x="6572250" y="3638550"/>
            <a:ext cx="4000500" cy="15621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0BB192-D325-4C73-9B1D-AD3A202BA435}"/>
              </a:ext>
            </a:extLst>
          </p:cNvPr>
          <p:cNvSpPr>
            <a:spLocks noGrp="1"/>
          </p:cNvSpPr>
          <p:nvPr/>
        </p:nvSpPr>
        <p:spPr>
          <a:xfrm>
            <a:off x="6743700" y="3790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See2Move </a:t>
            </a:r>
            <a:r>
              <a:rPr sz="1725" b="1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的作用</a:t>
            </a:r>
            <a:endParaRPr sz="1725" b="1" dirty="0">
              <a:solidFill>
                <a:srgbClr val="1020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EB64F3F-55F0-4676-BB91-320C24BAA549}"/>
              </a:ext>
            </a:extLst>
          </p:cNvPr>
          <p:cNvSpPr>
            <a:spLocks noGrp="1"/>
          </p:cNvSpPr>
          <p:nvPr/>
        </p:nvSpPr>
        <p:spPr>
          <a:xfrm>
            <a:off x="6905625" y="4146550"/>
            <a:ext cx="3333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在摆放前主动调整相机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：</a:t>
            </a:r>
          </a:p>
          <a:p>
            <a:pPr algn="l">
              <a:defRPr sz="13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1.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提升目标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区域可见性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defRPr sz="13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2.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减少无效或负收益移动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defRPr sz="13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3. 为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SceneReVis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提供更稳定输入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7A4929-BFE3-450B-A0DE-DDA2C86D1EC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C4D9FEC-7F96-4DF8-9F47-D77843D85DCF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38BD98-7CB0-460E-8ACA-B8D0C2770C19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4525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665B1200-7749-44BC-B522-D0275D54A78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02 PROBLEM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A77B1E-23CF-4754-855D-8A998E1AA6E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问题定义与工作定位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1734F6-64E4-475B-AFF6-6EE532047D27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A29D65-DFDC-4890-88E0-4CF777817117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将局部视角调整建模为语言条件下的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visibility gain prediction。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312ACE-DE83-438E-A25D-DF1A8FA9F40C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EECB445-1B34-4E5A-AD57-46BFE909AB23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952750" cy="1143000"/>
          </a:xfrm>
          <a:prstGeom prst="roundRect">
            <a:avLst>
              <a:gd name="adj" fmla="val 10000"/>
            </a:avLst>
          </a:prstGeom>
          <a:solidFill>
            <a:srgbClr val="E4F7FC"/>
          </a:solidFill>
          <a:ln w="9525">
            <a:solidFill>
              <a:srgbClr val="00A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7E35CC-BFA8-44CB-B525-932DBDEBC3D1}"/>
              </a:ext>
            </a:extLst>
          </p:cNvPr>
          <p:cNvSpPr>
            <a:spLocks noGrp="1"/>
          </p:cNvSpPr>
          <p:nvPr/>
        </p:nvSpPr>
        <p:spPr>
          <a:xfrm>
            <a:off x="1009650" y="1804987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dirty="0" err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输入</a:t>
            </a:r>
            <a:endParaRPr sz="1800" b="1" dirty="0">
              <a:solidFill>
                <a:srgbClr val="00A9E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49ED7A-95FE-42DC-8651-8983691A5C77}"/>
              </a:ext>
            </a:extLst>
          </p:cNvPr>
          <p:cNvSpPr>
            <a:spLocks noGrp="1"/>
          </p:cNvSpPr>
          <p:nvPr/>
        </p:nvSpPr>
        <p:spPr>
          <a:xfrm>
            <a:off x="1181100" y="2076450"/>
            <a:ext cx="2286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dirty="0">
                <a:solidFill>
                  <a:srgbClr val="102033"/>
                </a:solidFill>
                <a:latin typeface="Bookman Old Style" panose="02050604050505020204" pitchFamily="18" charset="0"/>
                <a:ea typeface="Noto Sans SC"/>
                <a:cs typeface="Noto Sans SC"/>
              </a:rPr>
              <a:t>Instruction + RGB</a:t>
            </a:r>
          </a:p>
          <a:p>
            <a:pPr algn="l">
              <a:defRPr sz="127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dirty="0">
                <a:solidFill>
                  <a:srgbClr val="102033"/>
                </a:solidFill>
                <a:latin typeface="Bookman Old Style" panose="02050604050505020204" pitchFamily="18" charset="0"/>
                <a:ea typeface="Noto Sans SC"/>
                <a:cs typeface="Noto Sans SC"/>
              </a:rPr>
              <a:t>Depth/Z-buffer</a:t>
            </a:r>
          </a:p>
          <a:p>
            <a:pPr algn="l">
              <a:defRPr sz="127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dirty="0">
                <a:solidFill>
                  <a:srgbClr val="102033"/>
                </a:solidFill>
                <a:latin typeface="Bookman Old Style" panose="02050604050505020204" pitchFamily="18" charset="0"/>
                <a:ea typeface="Noto Sans SC"/>
                <a:cs typeface="Noto Sans SC"/>
              </a:rPr>
              <a:t>Camera pose + history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78E68E-52DD-4FEC-8495-92CF224B113D}"/>
              </a:ext>
            </a:extLst>
          </p:cNvPr>
          <p:cNvSpPr>
            <a:spLocks noGrp="1"/>
          </p:cNvSpPr>
          <p:nvPr/>
        </p:nvSpPr>
        <p:spPr>
          <a:xfrm>
            <a:off x="3886200" y="2286000"/>
            <a:ext cx="838200" cy="28575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26D92E21-9275-49CE-921D-432F1D1907B9}"/>
              </a:ext>
            </a:extLst>
          </p:cNvPr>
          <p:cNvSpPr>
            <a:spLocks noGrp="1"/>
          </p:cNvSpPr>
          <p:nvPr/>
        </p:nvSpPr>
        <p:spPr>
          <a:xfrm>
            <a:off x="4686300" y="2219325"/>
            <a:ext cx="171450" cy="171450"/>
          </a:xfrm>
          <a:prstGeom prst="triangle">
            <a:avLst/>
          </a:prstGeom>
          <a:solidFill>
            <a:srgbClr val="00A9E0"/>
          </a:solidFill>
          <a:ln w="0">
            <a:solidFill>
              <a:srgbClr val="00A9E0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6AEAA42-7CC5-4474-97A6-F7571BFB1E4D}"/>
              </a:ext>
            </a:extLst>
          </p:cNvPr>
          <p:cNvSpPr>
            <a:spLocks noGrp="1"/>
          </p:cNvSpPr>
          <p:nvPr/>
        </p:nvSpPr>
        <p:spPr>
          <a:xfrm>
            <a:off x="5048250" y="171450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EEEFFE"/>
          </a:solidFill>
          <a:ln w="9525">
            <a:solidFill>
              <a:srgbClr val="6C6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7AE8A7-AD3C-4F3E-B9B8-203E8F968A06}"/>
              </a:ext>
            </a:extLst>
          </p:cNvPr>
          <p:cNvSpPr>
            <a:spLocks noGrp="1"/>
          </p:cNvSpPr>
          <p:nvPr/>
        </p:nvSpPr>
        <p:spPr>
          <a:xfrm>
            <a:off x="5276850" y="1804987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0BAFD3-4857-4AB5-AD87-B899B156D5DD}"/>
              </a:ext>
            </a:extLst>
          </p:cNvPr>
          <p:cNvSpPr>
            <a:spLocks noGrp="1"/>
          </p:cNvSpPr>
          <p:nvPr/>
        </p:nvSpPr>
        <p:spPr>
          <a:xfrm>
            <a:off x="5448300" y="2076450"/>
            <a:ext cx="200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dirty="0">
                <a:solidFill>
                  <a:srgbClr val="102033"/>
                </a:solidFill>
                <a:latin typeface="Bookman Old Style" panose="02050604050505020204" pitchFamily="18" charset="0"/>
                <a:ea typeface="Noto Sans SC"/>
                <a:cs typeface="Noto Sans SC"/>
              </a:rPr>
              <a:t>Qwen3-VL</a:t>
            </a:r>
          </a:p>
          <a:p>
            <a:pPr algn="l">
              <a:defRPr sz="127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dirty="0">
                <a:solidFill>
                  <a:srgbClr val="102033"/>
                </a:solidFill>
                <a:latin typeface="Bookman Old Style" panose="02050604050505020204" pitchFamily="18" charset="0"/>
                <a:ea typeface="Noto Sans SC"/>
                <a:cs typeface="Noto Sans SC"/>
              </a:rPr>
              <a:t>Depth CNN</a:t>
            </a:r>
          </a:p>
          <a:p>
            <a:pPr algn="l">
              <a:defRPr sz="127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dirty="0">
                <a:solidFill>
                  <a:srgbClr val="102033"/>
                </a:solidFill>
                <a:latin typeface="Bookman Old Style" panose="02050604050505020204" pitchFamily="18" charset="0"/>
                <a:ea typeface="Noto Sans SC"/>
                <a:cs typeface="Noto Sans SC"/>
              </a:rPr>
              <a:t>Pose encoder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F4BB2C-1000-4047-AD66-A2D63672A5F7}"/>
              </a:ext>
            </a:extLst>
          </p:cNvPr>
          <p:cNvSpPr>
            <a:spLocks noGrp="1"/>
          </p:cNvSpPr>
          <p:nvPr/>
        </p:nvSpPr>
        <p:spPr>
          <a:xfrm>
            <a:off x="7762875" y="2286000"/>
            <a:ext cx="847725" cy="28575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CBC54437-1F68-479E-B388-D93403C792A0}"/>
              </a:ext>
            </a:extLst>
          </p:cNvPr>
          <p:cNvSpPr>
            <a:spLocks noGrp="1"/>
          </p:cNvSpPr>
          <p:nvPr/>
        </p:nvSpPr>
        <p:spPr>
          <a:xfrm>
            <a:off x="8572500" y="2219325"/>
            <a:ext cx="171450" cy="171450"/>
          </a:xfrm>
          <a:prstGeom prst="triangle">
            <a:avLst/>
          </a:prstGeom>
          <a:solidFill>
            <a:srgbClr val="6C63FF"/>
          </a:solidFill>
          <a:ln w="0">
            <a:solidFill>
              <a:srgbClr val="6C63FF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EBDFDEB-9C86-4B82-9CAF-EA46EC5C37E6}"/>
              </a:ext>
            </a:extLst>
          </p:cNvPr>
          <p:cNvSpPr>
            <a:spLocks noGrp="1"/>
          </p:cNvSpPr>
          <p:nvPr/>
        </p:nvSpPr>
        <p:spPr>
          <a:xfrm>
            <a:off x="8934450" y="1714500"/>
            <a:ext cx="2381250" cy="1143000"/>
          </a:xfrm>
          <a:prstGeom prst="roundRect">
            <a:avLst>
              <a:gd name="adj" fmla="val 10000"/>
            </a:avLst>
          </a:prstGeom>
          <a:solidFill>
            <a:srgbClr val="FFF5D6"/>
          </a:solidFill>
          <a:ln w="9525">
            <a:solidFill>
              <a:srgbClr val="FFB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BF704D-FE19-4707-A332-2B6DDB0C95AE}"/>
              </a:ext>
            </a:extLst>
          </p:cNvPr>
          <p:cNvSpPr>
            <a:spLocks noGrp="1"/>
          </p:cNvSpPr>
          <p:nvPr/>
        </p:nvSpPr>
        <p:spPr>
          <a:xfrm>
            <a:off x="9163050" y="1804987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rPr>
              <a:t>输出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170D37-AE17-4CF4-8659-1D417405BEDD}"/>
              </a:ext>
            </a:extLst>
          </p:cNvPr>
          <p:cNvSpPr>
            <a:spLocks noGrp="1"/>
          </p:cNvSpPr>
          <p:nvPr/>
        </p:nvSpPr>
        <p:spPr>
          <a:xfrm>
            <a:off x="9334500" y="2076450"/>
            <a:ext cx="191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dirty="0">
                <a:solidFill>
                  <a:srgbClr val="102033"/>
                </a:solidFill>
                <a:latin typeface="Bookman Old Style" panose="02050604050505020204" pitchFamily="18" charset="0"/>
                <a:ea typeface="Noto Sans SC"/>
                <a:cs typeface="Noto Sans SC"/>
              </a:rPr>
              <a:t>Predicted gain score</a:t>
            </a:r>
          </a:p>
          <a:p>
            <a:pPr algn="l">
              <a:defRPr sz="127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dirty="0">
                <a:solidFill>
                  <a:srgbClr val="102033"/>
                </a:solidFill>
                <a:latin typeface="Bookman Old Style" panose="02050604050505020204" pitchFamily="18" charset="0"/>
                <a:ea typeface="Noto Sans SC"/>
                <a:cs typeface="Noto Sans SC"/>
              </a:rPr>
              <a:t>for each camera action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3CE81C6-6DFE-47D9-BF32-802AFB24F110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98107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5718CE-D2AE-416A-B453-28C1BD5C9D0A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1765935" cy="452438"/>
          </a:xfrm>
          <a:prstGeom prst="rect">
            <a:avLst/>
          </a:prstGeom>
          <a:solidFill>
            <a:srgbClr val="182B49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DF7ADA-D755-460A-8E9A-8182D10B9A7C}"/>
              </a:ext>
            </a:extLst>
          </p:cNvPr>
          <p:cNvSpPr>
            <a:spLocks noGrp="1"/>
          </p:cNvSpPr>
          <p:nvPr/>
        </p:nvSpPr>
        <p:spPr>
          <a:xfrm>
            <a:off x="1009650" y="3829050"/>
            <a:ext cx="1575435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区别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81B931-9631-49E5-8EB0-2FDFE3661251}"/>
              </a:ext>
            </a:extLst>
          </p:cNvPr>
          <p:cNvSpPr>
            <a:spLocks noGrp="1"/>
          </p:cNvSpPr>
          <p:nvPr/>
        </p:nvSpPr>
        <p:spPr>
          <a:xfrm>
            <a:off x="2680335" y="3733800"/>
            <a:ext cx="2648903" cy="452438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F0A83A-759C-4D48-8CEC-C79E782C494B}"/>
              </a:ext>
            </a:extLst>
          </p:cNvPr>
          <p:cNvSpPr>
            <a:spLocks noGrp="1"/>
          </p:cNvSpPr>
          <p:nvPr/>
        </p:nvSpPr>
        <p:spPr>
          <a:xfrm>
            <a:off x="2775585" y="3829050"/>
            <a:ext cx="245840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传统 VLN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B5EBB-BCF0-4415-A957-9FDDE3C45218}"/>
              </a:ext>
            </a:extLst>
          </p:cNvPr>
          <p:cNvSpPr>
            <a:spLocks noGrp="1"/>
          </p:cNvSpPr>
          <p:nvPr/>
        </p:nvSpPr>
        <p:spPr>
          <a:xfrm>
            <a:off x="5329238" y="3733800"/>
            <a:ext cx="2648903" cy="452438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9616F4B-1024-4F04-96D7-D55AD7F747F2}"/>
              </a:ext>
            </a:extLst>
          </p:cNvPr>
          <p:cNvSpPr>
            <a:spLocks noGrp="1"/>
          </p:cNvSpPr>
          <p:nvPr/>
        </p:nvSpPr>
        <p:spPr>
          <a:xfrm>
            <a:off x="5424488" y="3829050"/>
            <a:ext cx="245840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通用 VLA/WAM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0FE09F-7CEB-4917-9AFE-A126EE1F9524}"/>
              </a:ext>
            </a:extLst>
          </p:cNvPr>
          <p:cNvSpPr>
            <a:spLocks noGrp="1"/>
          </p:cNvSpPr>
          <p:nvPr/>
        </p:nvSpPr>
        <p:spPr>
          <a:xfrm>
            <a:off x="7978140" y="3733800"/>
            <a:ext cx="2747010" cy="452438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7B2F5C-E681-48A8-BF47-90361F91CCBA}"/>
              </a:ext>
            </a:extLst>
          </p:cNvPr>
          <p:cNvSpPr>
            <a:spLocks noGrp="1"/>
          </p:cNvSpPr>
          <p:nvPr/>
        </p:nvSpPr>
        <p:spPr>
          <a:xfrm>
            <a:off x="8073390" y="3829050"/>
            <a:ext cx="255651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622FD6-0156-4DF6-A06E-E8BF73662A0A}"/>
              </a:ext>
            </a:extLst>
          </p:cNvPr>
          <p:cNvSpPr>
            <a:spLocks noGrp="1"/>
          </p:cNvSpPr>
          <p:nvPr/>
        </p:nvSpPr>
        <p:spPr>
          <a:xfrm>
            <a:off x="1009650" y="4281488"/>
            <a:ext cx="1575435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2C39D62-4FC2-4DF4-A757-1E674A8D23A6}"/>
              </a:ext>
            </a:extLst>
          </p:cNvPr>
          <p:cNvSpPr>
            <a:spLocks noGrp="1"/>
          </p:cNvSpPr>
          <p:nvPr/>
        </p:nvSpPr>
        <p:spPr>
          <a:xfrm>
            <a:off x="2775585" y="4281488"/>
            <a:ext cx="245840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到达目标点/路径跟随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4F4259B-AECB-486D-BE17-C73510F676CB}"/>
              </a:ext>
            </a:extLst>
          </p:cNvPr>
          <p:cNvSpPr>
            <a:spLocks noGrp="1"/>
          </p:cNvSpPr>
          <p:nvPr/>
        </p:nvSpPr>
        <p:spPr>
          <a:xfrm>
            <a:off x="5424488" y="4281488"/>
            <a:ext cx="245840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机器人操作策略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89CA9D4-B9BD-4874-A61A-E72D9ECD0A07}"/>
              </a:ext>
            </a:extLst>
          </p:cNvPr>
          <p:cNvSpPr>
            <a:spLocks noGrp="1"/>
          </p:cNvSpPr>
          <p:nvPr/>
        </p:nvSpPr>
        <p:spPr>
          <a:xfrm>
            <a:off x="8073390" y="4281488"/>
            <a:ext cx="255651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提升局部可见性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E11EF66-F6D0-4740-B90C-7F8708FF137B}"/>
              </a:ext>
            </a:extLst>
          </p:cNvPr>
          <p:cNvSpPr>
            <a:spLocks noGrp="1"/>
          </p:cNvSpPr>
          <p:nvPr/>
        </p:nvSpPr>
        <p:spPr>
          <a:xfrm>
            <a:off x="914400" y="4638675"/>
            <a:ext cx="1765935" cy="45243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09D441E-198E-49E7-9738-F25E053106C7}"/>
              </a:ext>
            </a:extLst>
          </p:cNvPr>
          <p:cNvSpPr>
            <a:spLocks noGrp="1"/>
          </p:cNvSpPr>
          <p:nvPr/>
        </p:nvSpPr>
        <p:spPr>
          <a:xfrm>
            <a:off x="1009650" y="4733925"/>
            <a:ext cx="1575435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动作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D87A780-5E84-429E-8A57-17E939456B4D}"/>
              </a:ext>
            </a:extLst>
          </p:cNvPr>
          <p:cNvSpPr>
            <a:spLocks noGrp="1"/>
          </p:cNvSpPr>
          <p:nvPr/>
        </p:nvSpPr>
        <p:spPr>
          <a:xfrm>
            <a:off x="2680335" y="4638675"/>
            <a:ext cx="2648903" cy="45243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79E043F-C1F2-48BA-8E1C-C2BAC8164581}"/>
              </a:ext>
            </a:extLst>
          </p:cNvPr>
          <p:cNvSpPr>
            <a:spLocks noGrp="1"/>
          </p:cNvSpPr>
          <p:nvPr/>
        </p:nvSpPr>
        <p:spPr>
          <a:xfrm>
            <a:off x="2775585" y="4733925"/>
            <a:ext cx="245840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导航动作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8553611-E779-4DD2-859A-5C5AB5FD1DEB}"/>
              </a:ext>
            </a:extLst>
          </p:cNvPr>
          <p:cNvSpPr>
            <a:spLocks noGrp="1"/>
          </p:cNvSpPr>
          <p:nvPr/>
        </p:nvSpPr>
        <p:spPr>
          <a:xfrm>
            <a:off x="5329238" y="4638675"/>
            <a:ext cx="2648903" cy="45243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6DC6B55-EDDD-4349-B074-AB631818660A}"/>
              </a:ext>
            </a:extLst>
          </p:cNvPr>
          <p:cNvSpPr>
            <a:spLocks noGrp="1"/>
          </p:cNvSpPr>
          <p:nvPr/>
        </p:nvSpPr>
        <p:spPr>
          <a:xfrm>
            <a:off x="5424488" y="4733925"/>
            <a:ext cx="245840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机器人/末端执行器动作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61F1CDE-3F11-4659-B716-11C01C0B85BA}"/>
              </a:ext>
            </a:extLst>
          </p:cNvPr>
          <p:cNvSpPr>
            <a:spLocks noGrp="1"/>
          </p:cNvSpPr>
          <p:nvPr/>
        </p:nvSpPr>
        <p:spPr>
          <a:xfrm>
            <a:off x="7978140" y="4638675"/>
            <a:ext cx="2747010" cy="45243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D6A3F42-391E-4D97-A2DD-5CB68FE4D356}"/>
              </a:ext>
            </a:extLst>
          </p:cNvPr>
          <p:cNvSpPr>
            <a:spLocks noGrp="1"/>
          </p:cNvSpPr>
          <p:nvPr/>
        </p:nvSpPr>
        <p:spPr>
          <a:xfrm>
            <a:off x="8073390" y="4733925"/>
            <a:ext cx="255651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相机移动/旋转/Stay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5FBC573-2DF3-49F1-8814-33ACE181B96D}"/>
              </a:ext>
            </a:extLst>
          </p:cNvPr>
          <p:cNvSpPr>
            <a:spLocks noGrp="1"/>
          </p:cNvSpPr>
          <p:nvPr/>
        </p:nvSpPr>
        <p:spPr>
          <a:xfrm>
            <a:off x="1009650" y="5186363"/>
            <a:ext cx="1575435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评价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5494D4F-17C1-4909-92EF-A8F1C0F6759F}"/>
              </a:ext>
            </a:extLst>
          </p:cNvPr>
          <p:cNvSpPr>
            <a:spLocks noGrp="1"/>
          </p:cNvSpPr>
          <p:nvPr/>
        </p:nvSpPr>
        <p:spPr>
          <a:xfrm>
            <a:off x="2775585" y="5186363"/>
            <a:ext cx="245840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SPL、SR、路径长度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6FF81BF-8D59-4CB5-A843-D8EFF9A0B0D5}"/>
              </a:ext>
            </a:extLst>
          </p:cNvPr>
          <p:cNvSpPr>
            <a:spLocks noGrp="1"/>
          </p:cNvSpPr>
          <p:nvPr/>
        </p:nvSpPr>
        <p:spPr>
          <a:xfrm>
            <a:off x="5424488" y="5186363"/>
            <a:ext cx="2458403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任务成功率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6ECF289-E3E6-4AA5-9390-7D2FDAD7E3C8}"/>
              </a:ext>
            </a:extLst>
          </p:cNvPr>
          <p:cNvSpPr>
            <a:spLocks noGrp="1"/>
          </p:cNvSpPr>
          <p:nvPr/>
        </p:nvSpPr>
        <p:spPr>
          <a:xfrm>
            <a:off x="8073390" y="5186363"/>
            <a:ext cx="2556510" cy="300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visible-pixel gain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35D60C4-2C23-47BD-85E5-68BF8CDBBF6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E2C8E0D-CB4F-486B-B350-34DC767B40B4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6B4FE11-41CA-4EEC-A726-0E36F6404474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431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84BC0491-0E31-4931-A93E-626C3DA2BF4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03 PIPELINE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FB3202-3942-4B31-B2F9-B71C5A8FECE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整体技术路线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C162B0-2F71-4147-9BA4-91F79A6632C6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BC9664-E2E3-4CCE-904B-01FB0906D2A5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从仿真自动监督到多模态模型训练，再到单步和多步视角调整评估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D8BEE0-7157-4CBC-BA28-3F7277245C7B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14EC357-38A9-471C-ACEA-8C3E8F35A7F5}"/>
              </a:ext>
            </a:extLst>
          </p:cNvPr>
          <p:cNvSpPr>
            <a:spLocks noGrp="1"/>
          </p:cNvSpPr>
          <p:nvPr/>
        </p:nvSpPr>
        <p:spPr>
          <a:xfrm>
            <a:off x="742950" y="20764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E4F7FC"/>
          </a:solidFill>
          <a:ln w="9525">
            <a:solidFill>
              <a:srgbClr val="00A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A7FB72-DE88-4BE9-BC06-BE1DF56C761C}"/>
              </a:ext>
            </a:extLst>
          </p:cNvPr>
          <p:cNvSpPr>
            <a:spLocks noGrp="1"/>
          </p:cNvSpPr>
          <p:nvPr/>
        </p:nvSpPr>
        <p:spPr>
          <a:xfrm>
            <a:off x="914400" y="23241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AI2-THOR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2843C8-B5D0-4FCB-9B9D-8D10C4E3F871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采样场景/目标/位姿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397921-75FB-4057-9202-465BFE11596E}"/>
              </a:ext>
            </a:extLst>
          </p:cNvPr>
          <p:cNvSpPr>
            <a:spLocks noGrp="1"/>
          </p:cNvSpPr>
          <p:nvPr/>
        </p:nvSpPr>
        <p:spPr>
          <a:xfrm>
            <a:off x="2457450" y="2762250"/>
            <a:ext cx="114300" cy="28575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1EFB4FCC-4047-494F-8971-15F477758216}"/>
              </a:ext>
            </a:extLst>
          </p:cNvPr>
          <p:cNvSpPr>
            <a:spLocks noGrp="1"/>
          </p:cNvSpPr>
          <p:nvPr/>
        </p:nvSpPr>
        <p:spPr>
          <a:xfrm>
            <a:off x="2533650" y="2695575"/>
            <a:ext cx="171450" cy="171450"/>
          </a:xfrm>
          <a:prstGeom prst="triangle">
            <a:avLst/>
          </a:prstGeom>
          <a:solidFill>
            <a:srgbClr val="00A9E0"/>
          </a:solidFill>
          <a:ln w="0">
            <a:solidFill>
              <a:srgbClr val="00A9E0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7388A3B-22DB-4604-9E44-56CF0D40C193}"/>
              </a:ext>
            </a:extLst>
          </p:cNvPr>
          <p:cNvSpPr>
            <a:spLocks noGrp="1"/>
          </p:cNvSpPr>
          <p:nvPr/>
        </p:nvSpPr>
        <p:spPr>
          <a:xfrm>
            <a:off x="2857500" y="20764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EEEFFE"/>
          </a:solidFill>
          <a:ln w="9525">
            <a:solidFill>
              <a:srgbClr val="6C6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AD4541-2461-4BBE-8CAE-2CD6AFBB64B0}"/>
              </a:ext>
            </a:extLst>
          </p:cNvPr>
          <p:cNvSpPr>
            <a:spLocks noGrp="1"/>
          </p:cNvSpPr>
          <p:nvPr/>
        </p:nvSpPr>
        <p:spPr>
          <a:xfrm>
            <a:off x="3028950" y="23241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Oracle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ED429E-8233-4E73-A8AA-622516787520}"/>
              </a:ext>
            </a:extLst>
          </p:cNvPr>
          <p:cNvSpPr>
            <a:spLocks noGrp="1"/>
          </p:cNvSpPr>
          <p:nvPr/>
        </p:nvSpPr>
        <p:spPr>
          <a:xfrm>
            <a:off x="3028950" y="280035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枚举动作并计算 gain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0439A3-E928-4E5C-802F-916D0EFF3928}"/>
              </a:ext>
            </a:extLst>
          </p:cNvPr>
          <p:cNvSpPr>
            <a:spLocks noGrp="1"/>
          </p:cNvSpPr>
          <p:nvPr/>
        </p:nvSpPr>
        <p:spPr>
          <a:xfrm>
            <a:off x="4572000" y="2762250"/>
            <a:ext cx="114300" cy="28575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087BE253-9C0A-464B-9A4C-A3AFAACCAC03}"/>
              </a:ext>
            </a:extLst>
          </p:cNvPr>
          <p:cNvSpPr>
            <a:spLocks noGrp="1"/>
          </p:cNvSpPr>
          <p:nvPr/>
        </p:nvSpPr>
        <p:spPr>
          <a:xfrm>
            <a:off x="4648200" y="2695575"/>
            <a:ext cx="171450" cy="171450"/>
          </a:xfrm>
          <a:prstGeom prst="triangle">
            <a:avLst/>
          </a:prstGeom>
          <a:solidFill>
            <a:srgbClr val="6C63FF"/>
          </a:solidFill>
          <a:ln w="0">
            <a:solidFill>
              <a:srgbClr val="6C63FF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7C5C88B-3902-4A3F-9679-4B249C163DD1}"/>
              </a:ext>
            </a:extLst>
          </p:cNvPr>
          <p:cNvSpPr>
            <a:spLocks noGrp="1"/>
          </p:cNvSpPr>
          <p:nvPr/>
        </p:nvSpPr>
        <p:spPr>
          <a:xfrm>
            <a:off x="4972050" y="20764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E4F7FC"/>
          </a:solidFill>
          <a:ln w="9525">
            <a:solidFill>
              <a:srgbClr val="00A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823134C-1EFB-4E8A-A8A7-C76466A5A5BA}"/>
              </a:ext>
            </a:extLst>
          </p:cNvPr>
          <p:cNvSpPr>
            <a:spLocks noGrp="1"/>
          </p:cNvSpPr>
          <p:nvPr/>
        </p:nvSpPr>
        <p:spPr>
          <a:xfrm>
            <a:off x="5143500" y="23241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Feature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D56EFF-F9AB-4C41-AAFC-400F661E4889}"/>
              </a:ext>
            </a:extLst>
          </p:cNvPr>
          <p:cNvSpPr>
            <a:spLocks noGrp="1"/>
          </p:cNvSpPr>
          <p:nvPr/>
        </p:nvSpPr>
        <p:spPr>
          <a:xfrm>
            <a:off x="5143500" y="280035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Qwen3-VL + Depth + Pose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CABF36-7535-471A-A009-E8C1DAC79A81}"/>
              </a:ext>
            </a:extLst>
          </p:cNvPr>
          <p:cNvSpPr>
            <a:spLocks noGrp="1"/>
          </p:cNvSpPr>
          <p:nvPr/>
        </p:nvSpPr>
        <p:spPr>
          <a:xfrm>
            <a:off x="6686550" y="2762250"/>
            <a:ext cx="114300" cy="28575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36648BB9-2EB5-47E7-94AF-7B42EA00984B}"/>
              </a:ext>
            </a:extLst>
          </p:cNvPr>
          <p:cNvSpPr>
            <a:spLocks noGrp="1"/>
          </p:cNvSpPr>
          <p:nvPr/>
        </p:nvSpPr>
        <p:spPr>
          <a:xfrm>
            <a:off x="6762750" y="2695575"/>
            <a:ext cx="171450" cy="171450"/>
          </a:xfrm>
          <a:prstGeom prst="triangle">
            <a:avLst/>
          </a:prstGeom>
          <a:solidFill>
            <a:srgbClr val="00A9E0"/>
          </a:solidFill>
          <a:ln w="0">
            <a:solidFill>
              <a:srgbClr val="00A9E0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524F256-D6AF-4831-85AC-2C2B74425EB8}"/>
              </a:ext>
            </a:extLst>
          </p:cNvPr>
          <p:cNvSpPr>
            <a:spLocks noGrp="1"/>
          </p:cNvSpPr>
          <p:nvPr/>
        </p:nvSpPr>
        <p:spPr>
          <a:xfrm>
            <a:off x="7086600" y="20764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EEEFFE"/>
          </a:solidFill>
          <a:ln w="9525">
            <a:solidFill>
              <a:srgbClr val="6C6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A5893FF-7E9B-49A6-A4AD-0B5A4F476798}"/>
              </a:ext>
            </a:extLst>
          </p:cNvPr>
          <p:cNvSpPr>
            <a:spLocks noGrp="1"/>
          </p:cNvSpPr>
          <p:nvPr/>
        </p:nvSpPr>
        <p:spPr>
          <a:xfrm>
            <a:off x="7258050" y="23241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Policy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CEDDC6-6AF9-45F3-8EA3-DEA6F623A32E}"/>
              </a:ext>
            </a:extLst>
          </p:cNvPr>
          <p:cNvSpPr>
            <a:spLocks noGrp="1"/>
          </p:cNvSpPr>
          <p:nvPr/>
        </p:nvSpPr>
        <p:spPr>
          <a:xfrm>
            <a:off x="7258050" y="280035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预测每个动作收益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54E635-CE71-4A31-B602-62E605FBC8C3}"/>
              </a:ext>
            </a:extLst>
          </p:cNvPr>
          <p:cNvSpPr>
            <a:spLocks noGrp="1"/>
          </p:cNvSpPr>
          <p:nvPr/>
        </p:nvSpPr>
        <p:spPr>
          <a:xfrm>
            <a:off x="8801100" y="2762250"/>
            <a:ext cx="114300" cy="28575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9378612E-FA99-4E62-BE9E-5E20E0E07C54}"/>
              </a:ext>
            </a:extLst>
          </p:cNvPr>
          <p:cNvSpPr>
            <a:spLocks noGrp="1"/>
          </p:cNvSpPr>
          <p:nvPr/>
        </p:nvSpPr>
        <p:spPr>
          <a:xfrm>
            <a:off x="8877300" y="2695575"/>
            <a:ext cx="171450" cy="171450"/>
          </a:xfrm>
          <a:prstGeom prst="triangle">
            <a:avLst/>
          </a:prstGeom>
          <a:solidFill>
            <a:srgbClr val="6C63FF"/>
          </a:solidFill>
          <a:ln w="0">
            <a:solidFill>
              <a:srgbClr val="6C63FF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2CCE421-C840-41DE-A3D5-5EB702BF1737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1619250" cy="1428750"/>
          </a:xfrm>
          <a:prstGeom prst="roundRect">
            <a:avLst>
              <a:gd name="adj" fmla="val 8000"/>
            </a:avLst>
          </a:prstGeom>
          <a:solidFill>
            <a:srgbClr val="E4F7FC"/>
          </a:solidFill>
          <a:ln w="9525">
            <a:solidFill>
              <a:srgbClr val="00A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3A1ADF-757C-4109-9CBE-D752AD9A716E}"/>
              </a:ext>
            </a:extLst>
          </p:cNvPr>
          <p:cNvSpPr>
            <a:spLocks noGrp="1"/>
          </p:cNvSpPr>
          <p:nvPr/>
        </p:nvSpPr>
        <p:spPr>
          <a:xfrm>
            <a:off x="9372600" y="23241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Demo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108096E-38FC-4CE9-B00F-87ADB8557E09}"/>
              </a:ext>
            </a:extLst>
          </p:cNvPr>
          <p:cNvSpPr>
            <a:spLocks noGrp="1"/>
          </p:cNvSpPr>
          <p:nvPr/>
        </p:nvSpPr>
        <p:spPr>
          <a:xfrm>
            <a:off x="9372600" y="2800350"/>
            <a:ext cx="123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单步案例 + greedy rollout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97EED61-A08B-4C5C-BDE0-6C45965EA5AD}"/>
              </a:ext>
            </a:extLst>
          </p:cNvPr>
          <p:cNvSpPr>
            <a:spLocks noGrp="1"/>
          </p:cNvSpPr>
          <p:nvPr/>
        </p:nvSpPr>
        <p:spPr>
          <a:xfrm>
            <a:off x="800100" y="4286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核心思想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B579F46-764E-4052-A148-6070632C85A6}"/>
              </a:ext>
            </a:extLst>
          </p:cNvPr>
          <p:cNvSpPr>
            <a:spLocks noGrp="1"/>
          </p:cNvSpPr>
          <p:nvPr/>
        </p:nvSpPr>
        <p:spPr>
          <a:xfrm>
            <a:off x="800100" y="4714874"/>
            <a:ext cx="72390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不要只学一个离散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label，而是学习每个候选动作的连续可见性收益。这样多个“可行但不最优”的动作也能被排序和解释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7A98BCE-CB5D-4ED2-A978-9151483C9CE2}"/>
              </a:ext>
            </a:extLst>
          </p:cNvPr>
          <p:cNvSpPr>
            <a:spLocks noGrp="1"/>
          </p:cNvSpPr>
          <p:nvPr/>
        </p:nvSpPr>
        <p:spPr>
          <a:xfrm>
            <a:off x="8039100" y="4070350"/>
            <a:ext cx="3619500" cy="1466850"/>
          </a:xfrm>
          <a:prstGeom prst="roundRect">
            <a:avLst>
              <a:gd name="adj" fmla="val 7792"/>
            </a:avLst>
          </a:prstGeom>
          <a:solidFill>
            <a:srgbClr val="FFF5D6"/>
          </a:solidFill>
          <a:ln w="9525">
            <a:solidFill>
              <a:srgbClr val="FFB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F21870-A3E5-4D32-965F-0201623B66DB}"/>
              </a:ext>
            </a:extLst>
          </p:cNvPr>
          <p:cNvSpPr>
            <a:spLocks noGrp="1"/>
          </p:cNvSpPr>
          <p:nvPr/>
        </p:nvSpPr>
        <p:spPr>
          <a:xfrm>
            <a:off x="8181975" y="42037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rPr>
              <a:t>选择规则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8C8CB8BA-8E0C-46DD-9679-859D8C0458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81975" y="4584700"/>
                <a:ext cx="2952750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1200" b="1">
                    <a:solidFill>
                      <a:srgbClr val="102033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dirty="0" smtClean="0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𝒂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∗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func>
                        <m:funcPr>
                          <m:ctrlPr>
                            <a:rPr lang="en-US" sz="1400" b="1" i="1" dirty="0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400" b="1" i="1" dirty="0">
                                  <a:solidFill>
                                    <a:srgbClr val="102033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400" b="1" i="1" dirty="0">
                                      <a:solidFill>
                                        <a:srgbClr val="102033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dirty="0">
                                      <a:solidFill>
                                        <a:srgbClr val="102033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400" b="1" i="1" dirty="0">
                                      <a:solidFill>
                                        <a:srgbClr val="102033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𝒂</m:t>
                                  </m:r>
                                  <m:r>
                                    <a:rPr lang="en-US" sz="1400" b="1" i="1" dirty="0">
                                      <a:solidFill>
                                        <a:srgbClr val="102033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 </m:t>
                                  </m:r>
                                  <m:r>
                                    <a:rPr lang="en-US" sz="1400" b="1" i="1" dirty="0">
                                      <a:solidFill>
                                        <a:srgbClr val="102033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𝒊𝒏</m:t>
                                  </m:r>
                                  <m:r>
                                    <a:rPr lang="en-US" sz="1400" b="1" i="1" dirty="0">
                                      <a:solidFill>
                                        <a:srgbClr val="102033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 </m:t>
                                  </m:r>
                                  <m:r>
                                    <a:rPr lang="en-US" sz="1400" b="1" i="1" dirty="0">
                                      <a:solidFill>
                                        <a:srgbClr val="102033"/>
                                      </a:solidFill>
                                      <a:latin typeface="Cambria Math" panose="02040503050406030204" pitchFamily="18" charset="0"/>
                                      <a:ea typeface="Aptos Mono"/>
                                      <a:cs typeface="Aptos Mono"/>
                                    </a:rPr>
                                    <m:t>𝑨</m:t>
                                  </m:r>
                                </m:lim>
                              </m:limLow>
                            </m:fName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400" b="1" i="1" dirty="0" smtClean="0">
                                      <a:solidFill>
                                        <a:srgbClr val="1020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400" b="1" i="1" dirty="0" smtClean="0">
                                      <a:solidFill>
                                        <a:srgbClr val="102033"/>
                                      </a:solidFill>
                                      <a:latin typeface="Cambria Math" panose="02040503050406030204" pitchFamily="18" charset="0"/>
                                    </a:rPr>
                                    <m:t>𝒈</m:t>
                                  </m:r>
                                </m:e>
                              </m:acc>
                              <m:r>
                                <a:rPr lang="en-US" altLang="zh-CN" sz="1400" b="1" i="1" dirty="0" smtClean="0">
                                  <a:solidFill>
                                    <a:srgbClr val="102033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400" b="1" i="1" dirty="0" smtClean="0">
                                  <a:solidFill>
                                    <a:srgbClr val="102033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1400" b="1" i="1" dirty="0" smtClean="0">
                                  <a:solidFill>
                                    <a:srgbClr val="102033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sz="1400" b="1" dirty="0">
                  <a:solidFill>
                    <a:srgbClr val="102033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8C8CB8BA-8E0C-46DD-9679-859D8C0458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75" y="4584700"/>
                <a:ext cx="2952750" cy="247650"/>
              </a:xfrm>
              <a:prstGeom prst="rect">
                <a:avLst/>
              </a:prstGeom>
              <a:blipFill>
                <a:blip r:embed="rId3"/>
                <a:stretch>
                  <a:fillRect t="-2439" b="-4878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A95A7CE2-1A7E-49EC-9105-510DAC911E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81975" y="4908550"/>
                <a:ext cx="3048000" cy="228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900" b="0">
                    <a:solidFill>
                      <a:srgbClr val="5B6B7F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𝑖𝑓</m:t>
                      </m:r>
                      <m:func>
                        <m:funcPr>
                          <m:ctrlPr>
                            <a:rPr lang="en-US" sz="1200" b="0" i="1" dirty="0" err="1" smtClean="0">
                              <a:solidFill>
                                <a:srgbClr val="5B6B7F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b="0" i="1" dirty="0" err="1" smtClean="0">
                                  <a:solidFill>
                                    <a:srgbClr val="5B6B7F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dirty="0" err="1" smtClean="0">
                                  <a:solidFill>
                                    <a:srgbClr val="5B6B7F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200" b="0" i="1" dirty="0" err="1" smtClean="0">
                                  <a:solidFill>
                                    <a:srgbClr val="5B6B7F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acc>
                            <m:accPr>
                              <m:chr m:val="̂"/>
                              <m:ctrlPr>
                                <a:rPr lang="en-US" altLang="zh-CN" sz="1200" b="0" i="1" dirty="0" smtClean="0">
                                  <a:solidFill>
                                    <a:srgbClr val="5B6B7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dirty="0" smtClean="0">
                                  <a:solidFill>
                                    <a:srgbClr val="5B6B7F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200" b="0" i="1" dirty="0" smtClean="0">
                                  <a:solidFill>
                                    <a:srgbClr val="5B6B7F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solidFill>
                                    <a:srgbClr val="5B6B7F"/>
                                  </a:solidFill>
                                  <a:latin typeface="Cambria Math" panose="02040503050406030204" pitchFamily="18" charset="0"/>
                                  <a:ea typeface="Aptos Mono"/>
                                  <a:cs typeface="Aptos Mono"/>
                                </a:rPr>
                                <m:t>𝑎</m:t>
                              </m:r>
                            </m:e>
                          </m:d>
                        </m:e>
                      </m:func>
                      <m:r>
                        <a:rPr 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≤</m:t>
                      </m:r>
                      <m:r>
                        <a:rPr 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𝜏</m:t>
                      </m:r>
                      <m:r>
                        <a:rPr 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, </m:t>
                      </m:r>
                      <m:r>
                        <a:rPr 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𝑐h𝑜𝑜𝑠𝑒</m:t>
                      </m:r>
                      <m:r>
                        <a:rPr 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a:rPr 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𝑆𝑡𝑎𝑦</m:t>
                      </m:r>
                    </m:oMath>
                  </m:oMathPara>
                </a14:m>
                <a:endParaRPr sz="900" b="0" dirty="0">
                  <a:solidFill>
                    <a:srgbClr val="5B6B7F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A95A7CE2-1A7E-49EC-9105-510DAC911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1975" y="4908550"/>
                <a:ext cx="3048000" cy="228600"/>
              </a:xfrm>
              <a:prstGeom prst="rect">
                <a:avLst/>
              </a:prstGeom>
              <a:blipFill>
                <a:blip r:embed="rId4"/>
                <a:stretch>
                  <a:fillRect b="-36842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矩形 34">
            <a:extLst>
              <a:ext uri="{FF2B5EF4-FFF2-40B4-BE49-F238E27FC236}">
                <a16:creationId xmlns:a16="http://schemas.microsoft.com/office/drawing/2014/main" id="{6F9919B7-5BB4-4D1D-8684-73AE5F7B80D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17A59D7-0945-4C75-BB8F-D370E4F3E640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E047E10-36B1-41EA-BC66-EE93B058F526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170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AC55879-D701-4861-9EDA-6C34C1E32B1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04 DATA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18DEF5-F7FC-4B78-93DB-EB3337057E3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AI2-THOR Oracle 自动标注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20B233-BCFF-409B-AAA2-2F070ED9F1D0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CEAF7C-2D5E-425F-9064-3039027F07F4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利用仿真环境自动获得候选动作后的目标可见像素变化，无需人工标注下一步动作</a:t>
            </a:r>
            <a:endParaRPr sz="16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EDD042-4E57-4C06-9805-53863A743C5C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95170"/>
            <a:ext cx="6978522" cy="3519779"/>
          </a:xfrm>
          <a:prstGeom prst="roundRect">
            <a:avLst>
              <a:gd name="adj" fmla="val 2051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5C99450C-FE34-4515-AD2E-F4399CE0A193}"/>
              </a:ext>
            </a:extLst>
          </p:cNvPr>
          <p:cNvSpPr>
            <a:spLocks noGrp="1"/>
          </p:cNvSpPr>
          <p:nvPr/>
        </p:nvSpPr>
        <p:spPr>
          <a:xfrm>
            <a:off x="8216900" y="1609726"/>
            <a:ext cx="3143250" cy="1047750"/>
          </a:xfrm>
          <a:prstGeom prst="roundRect">
            <a:avLst>
              <a:gd name="adj" fmla="val 10909"/>
            </a:avLst>
          </a:prstGeom>
          <a:solidFill>
            <a:srgbClr val="E4F7FC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2F7A19-1EE1-427A-B5A4-2EDB875487FA}"/>
              </a:ext>
            </a:extLst>
          </p:cNvPr>
          <p:cNvSpPr>
            <a:spLocks noGrp="1"/>
          </p:cNvSpPr>
          <p:nvPr/>
        </p:nvSpPr>
        <p:spPr>
          <a:xfrm>
            <a:off x="8388350" y="1781176"/>
            <a:ext cx="57150" cy="4000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4E6A8C-C79F-4920-B525-7274AC63F7DA}"/>
              </a:ext>
            </a:extLst>
          </p:cNvPr>
          <p:cNvSpPr>
            <a:spLocks noGrp="1"/>
          </p:cNvSpPr>
          <p:nvPr/>
        </p:nvSpPr>
        <p:spPr>
          <a:xfrm>
            <a:off x="8540750" y="1762126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可见像素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4D3199-6B6C-4D1C-87E8-53166F98816C}"/>
              </a:ext>
            </a:extLst>
          </p:cNvPr>
          <p:cNvSpPr>
            <a:spLocks noGrp="1"/>
          </p:cNvSpPr>
          <p:nvPr/>
        </p:nvSpPr>
        <p:spPr>
          <a:xfrm>
            <a:off x="8540750" y="2105026"/>
            <a:ext cx="2647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由 AI2-THOR instance mask </a:t>
            </a:r>
            <a:r>
              <a:rPr sz="12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对目标物体像素求和得到</a:t>
            </a:r>
            <a:endParaRPr sz="12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39B60B-253D-48F8-8608-B35BF754522A}"/>
              </a:ext>
            </a:extLst>
          </p:cNvPr>
          <p:cNvSpPr>
            <a:spLocks noGrp="1"/>
          </p:cNvSpPr>
          <p:nvPr/>
        </p:nvSpPr>
        <p:spPr>
          <a:xfrm>
            <a:off x="8216900" y="2924176"/>
            <a:ext cx="3143250" cy="1047750"/>
          </a:xfrm>
          <a:prstGeom prst="roundRect">
            <a:avLst>
              <a:gd name="adj" fmla="val 10909"/>
            </a:avLst>
          </a:prstGeom>
          <a:solidFill>
            <a:srgbClr val="EEEFFE"/>
          </a:solidFill>
          <a:ln w="9525">
            <a:solidFill>
              <a:srgbClr val="6C6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2341BD-F0AB-4DF9-9DED-DDCC87DDCEF5}"/>
              </a:ext>
            </a:extLst>
          </p:cNvPr>
          <p:cNvSpPr>
            <a:spLocks noGrp="1"/>
          </p:cNvSpPr>
          <p:nvPr/>
        </p:nvSpPr>
        <p:spPr>
          <a:xfrm>
            <a:off x="8388350" y="3095626"/>
            <a:ext cx="57150" cy="40005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945058-9B7E-4FD8-8E78-E348DD64B762}"/>
              </a:ext>
            </a:extLst>
          </p:cNvPr>
          <p:cNvSpPr>
            <a:spLocks noGrp="1"/>
          </p:cNvSpPr>
          <p:nvPr/>
        </p:nvSpPr>
        <p:spPr>
          <a:xfrm>
            <a:off x="8540750" y="3076576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动作收益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093824B-A669-4F08-8298-AA2F2734E8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40750" y="3419476"/>
                <a:ext cx="2571750" cy="228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1050" b="1">
                    <a:solidFill>
                      <a:srgbClr val="102033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1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𝒔</m:t>
                      </m:r>
                      <m:d>
                        <m:dPr>
                          <m:ctrlPr>
                            <a:rPr lang="en-US" altLang="zh-CN" sz="1100" b="1" i="1" dirty="0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dPr>
                        <m:e>
                          <m:r>
                            <a:rPr lang="zh-CN" altLang="en-US" sz="1100" b="1" i="1" dirty="0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𝒂</m:t>
                          </m:r>
                        </m:e>
                      </m:d>
                      <m:r>
                        <a:rPr lang="en-US" altLang="zh-CN" sz="1100" b="1" i="1" dirty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sSub>
                        <m:sSubPr>
                          <m:ctrlPr>
                            <a:rPr lang="en-US" altLang="zh-CN" sz="11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zh-CN" altLang="en-US" sz="11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𝑽</m:t>
                          </m:r>
                        </m:e>
                        <m:sub>
                          <m:r>
                            <a:rPr lang="zh-CN" altLang="en-US" sz="11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𝒂𝒇𝒕𝒆𝒓</m:t>
                          </m:r>
                        </m:sub>
                      </m:sSub>
                      <m:r>
                        <a:rPr lang="en-US" altLang="zh-CN" sz="11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(</m:t>
                      </m:r>
                      <m:r>
                        <a:rPr lang="en-US" altLang="zh-CN" sz="11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𝒂</m:t>
                      </m:r>
                      <m:r>
                        <a:rPr lang="en-US" altLang="zh-CN" sz="11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)−</m:t>
                      </m:r>
                      <m:sSub>
                        <m:sSubPr>
                          <m:ctrlPr>
                            <a:rPr lang="en-US" altLang="zh-CN" sz="11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zh-CN" altLang="en-US" sz="11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𝑽</m:t>
                          </m:r>
                        </m:e>
                        <m:sub>
                          <m:r>
                            <a:rPr lang="zh-CN" altLang="en-US" sz="11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𝒃𝒆𝒇𝒐𝒓𝒆</m:t>
                          </m:r>
                        </m:sub>
                      </m:sSub>
                      <m:r>
                        <a:rPr lang="en-US" altLang="zh-CN" sz="11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(</m:t>
                      </m:r>
                      <m:r>
                        <a:rPr lang="en-US" altLang="zh-CN" sz="11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𝒂</m:t>
                      </m:r>
                      <m:r>
                        <a:rPr lang="en-US" altLang="zh-CN" sz="11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)</m:t>
                      </m:r>
                    </m:oMath>
                  </m:oMathPara>
                </a14:m>
                <a:endParaRPr sz="1100" b="1" dirty="0">
                  <a:solidFill>
                    <a:srgbClr val="102033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093824B-A669-4F08-8298-AA2F2734E8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750" y="3419476"/>
                <a:ext cx="2571750" cy="228600"/>
              </a:xfrm>
              <a:prstGeom prst="rect">
                <a:avLst/>
              </a:prstGeom>
              <a:blipFill>
                <a:blip r:embed="rId4"/>
                <a:stretch>
                  <a:fillRect b="-2702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2463212F-E158-44A9-A670-97BCA11782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540750" y="3679828"/>
                <a:ext cx="257175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1050" b="0">
                    <a:solidFill>
                      <a:srgbClr val="5B6B7F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𝑓𝑎𝑖𝑙𝑒𝑑</m:t>
                      </m:r>
                      <m:r>
                        <a:rPr lang="zh-CN" alt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 </m:t>
                      </m:r>
                      <m:r>
                        <a:rPr lang="zh-CN" altLang="en-US" sz="1200" b="0" i="1" dirty="0" smtClean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𝑎𝑐𝑡𝑖𝑜𝑛</m:t>
                      </m:r>
                      <m:r>
                        <a:rPr lang="en-US" altLang="zh-CN" sz="1200" b="0" i="1" dirty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: </m:t>
                      </m:r>
                      <m:r>
                        <a:rPr lang="zh-CN" altLang="en-US" sz="1200" b="0" i="1" dirty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𝑠</m:t>
                      </m:r>
                      <m:r>
                        <a:rPr lang="en-US" altLang="zh-CN" sz="1200" b="0" i="1" dirty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(</m:t>
                      </m:r>
                      <m:r>
                        <a:rPr lang="zh-CN" altLang="en-US" sz="1200" b="0" i="1" dirty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𝑎</m:t>
                      </m:r>
                      <m:r>
                        <a:rPr lang="en-US" altLang="zh-CN" sz="1200" b="0" i="1" dirty="0">
                          <a:solidFill>
                            <a:srgbClr val="5B6B7F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)=−1</m:t>
                      </m:r>
                    </m:oMath>
                  </m:oMathPara>
                </a14:m>
                <a:endParaRPr sz="1200" b="0" dirty="0">
                  <a:solidFill>
                    <a:srgbClr val="5B6B7F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2463212F-E158-44A9-A670-97BCA11782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750" y="3679828"/>
                <a:ext cx="2571750" cy="209550"/>
              </a:xfrm>
              <a:prstGeom prst="rect">
                <a:avLst/>
              </a:prstGeom>
              <a:blipFill>
                <a:blip r:embed="rId5"/>
                <a:stretch>
                  <a:fillRect b="-4411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C337947-FCF8-4CEF-BBC8-4471E83840DE}"/>
              </a:ext>
            </a:extLst>
          </p:cNvPr>
          <p:cNvSpPr>
            <a:spLocks noGrp="1"/>
          </p:cNvSpPr>
          <p:nvPr/>
        </p:nvSpPr>
        <p:spPr>
          <a:xfrm>
            <a:off x="8216900" y="4238626"/>
            <a:ext cx="3143250" cy="1047750"/>
          </a:xfrm>
          <a:prstGeom prst="roundRect">
            <a:avLst>
              <a:gd name="adj" fmla="val 10909"/>
            </a:avLst>
          </a:prstGeom>
          <a:solidFill>
            <a:srgbClr val="FFF5D6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0DBAC2-A938-49C3-AC93-2B1F4E2A19B9}"/>
              </a:ext>
            </a:extLst>
          </p:cNvPr>
          <p:cNvSpPr>
            <a:spLocks noGrp="1"/>
          </p:cNvSpPr>
          <p:nvPr/>
        </p:nvSpPr>
        <p:spPr>
          <a:xfrm>
            <a:off x="8388350" y="4410076"/>
            <a:ext cx="57150" cy="4000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D21F5A-067F-490B-B67E-54C731C443B2}"/>
              </a:ext>
            </a:extLst>
          </p:cNvPr>
          <p:cNvSpPr>
            <a:spLocks noGrp="1"/>
          </p:cNvSpPr>
          <p:nvPr/>
        </p:nvSpPr>
        <p:spPr>
          <a:xfrm>
            <a:off x="8540750" y="4391026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Stay 标注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427E27-F2C0-4354-AA71-05B90AA6EB92}"/>
              </a:ext>
            </a:extLst>
          </p:cNvPr>
          <p:cNvSpPr>
            <a:spLocks noGrp="1"/>
          </p:cNvSpPr>
          <p:nvPr/>
        </p:nvSpPr>
        <p:spPr>
          <a:xfrm>
            <a:off x="8540750" y="4694239"/>
            <a:ext cx="2647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如果所有移动动作收益均不为正，则</a:t>
            </a:r>
            <a:r>
              <a:rPr sz="12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oracle </a:t>
            </a:r>
            <a:r>
              <a:rPr sz="12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选择</a:t>
            </a:r>
            <a:r>
              <a:rPr sz="12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Stay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F5B48E-97F7-432A-A589-38054598F2C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E81DFF-0F43-4CD9-8A72-5BB27376E3BB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1877F57-C9B1-4ECD-8E31-2D12B768E87F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6854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DA820CA4-556D-439C-BB7B-063147F9084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04 DATA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B1543A-52F5-4A0E-B3CD-C587E3EFC4E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数据集与动作空间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BEDA14-943B-4A3B-89EC-2F2904584302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FC4057-44F5-49C1-801C-59650CA1BBD6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当前主实验使用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Stay-aware AI2-THOR oracle records。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CAADCD-B54F-4FCA-A6E9-145E023DE2DF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1A0ADC4-FD3E-4FDA-B1BA-89CED537DF2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1907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5227BC-2D7A-4AD4-A41C-BD4B4A3DD6CB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5,000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8AB3F4-4933-4FC2-AD98-572585AC117E}"/>
              </a:ext>
            </a:extLst>
          </p:cNvPr>
          <p:cNvSpPr>
            <a:spLocks noGrp="1"/>
          </p:cNvSpPr>
          <p:nvPr/>
        </p:nvSpPr>
        <p:spPr>
          <a:xfrm>
            <a:off x="895350" y="2371725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records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B143CD-A6A9-416F-B768-9CF2A60DD9F5}"/>
              </a:ext>
            </a:extLst>
          </p:cNvPr>
          <p:cNvSpPr>
            <a:spLocks noGrp="1"/>
          </p:cNvSpPr>
          <p:nvPr/>
        </p:nvSpPr>
        <p:spPr>
          <a:xfrm>
            <a:off x="895350" y="2628900"/>
            <a:ext cx="17716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覆盖</a:t>
            </a:r>
            <a:r>
              <a:rPr sz="97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120 </a:t>
            </a:r>
            <a:r>
              <a:rPr sz="97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个房间场景</a:t>
            </a:r>
            <a:endParaRPr sz="975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27C648E-1B8F-4079-960B-1714DAD26E4D}"/>
              </a:ext>
            </a:extLst>
          </p:cNvPr>
          <p:cNvSpPr>
            <a:spLocks noGrp="1"/>
          </p:cNvSpPr>
          <p:nvPr/>
        </p:nvSpPr>
        <p:spPr>
          <a:xfrm>
            <a:off x="3124200" y="1619250"/>
            <a:ext cx="21907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607905-0156-4986-B402-46E5953DC72F}"/>
              </a:ext>
            </a:extLst>
          </p:cNvPr>
          <p:cNvSpPr>
            <a:spLocks noGrp="1"/>
          </p:cNvSpPr>
          <p:nvPr/>
        </p:nvSpPr>
        <p:spPr>
          <a:xfrm>
            <a:off x="3333750" y="180975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CBC668-E1B2-4BE0-94F7-BF8BE688289C}"/>
              </a:ext>
            </a:extLst>
          </p:cNvPr>
          <p:cNvSpPr>
            <a:spLocks noGrp="1"/>
          </p:cNvSpPr>
          <p:nvPr/>
        </p:nvSpPr>
        <p:spPr>
          <a:xfrm>
            <a:off x="3333750" y="2371725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actions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E5713-8783-49A0-B9C2-9264216A765F}"/>
              </a:ext>
            </a:extLst>
          </p:cNvPr>
          <p:cNvSpPr>
            <a:spLocks noGrp="1"/>
          </p:cNvSpPr>
          <p:nvPr/>
        </p:nvSpPr>
        <p:spPr>
          <a:xfrm>
            <a:off x="3333750" y="2628900"/>
            <a:ext cx="17716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8 </a:t>
            </a:r>
            <a:r>
              <a:rPr sz="97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个移动</a:t>
            </a:r>
            <a:r>
              <a:rPr sz="97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97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旋转动作</a:t>
            </a:r>
            <a:r>
              <a:rPr sz="97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+ Stay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3C20E62-3270-492D-9530-923CC0FE9BE1}"/>
              </a:ext>
            </a:extLst>
          </p:cNvPr>
          <p:cNvSpPr>
            <a:spLocks noGrp="1"/>
          </p:cNvSpPr>
          <p:nvPr/>
        </p:nvSpPr>
        <p:spPr>
          <a:xfrm>
            <a:off x="5562600" y="1619250"/>
            <a:ext cx="21907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053F48-1A3A-4260-AE95-7290A65D574F}"/>
              </a:ext>
            </a:extLst>
          </p:cNvPr>
          <p:cNvSpPr>
            <a:spLocks noGrp="1"/>
          </p:cNvSpPr>
          <p:nvPr/>
        </p:nvSpPr>
        <p:spPr>
          <a:xfrm>
            <a:off x="5772150" y="180975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rPr>
              <a:t>0.203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869894-2F7D-4781-A4B4-9E5037FE9895}"/>
              </a:ext>
            </a:extLst>
          </p:cNvPr>
          <p:cNvSpPr>
            <a:spLocks noGrp="1"/>
          </p:cNvSpPr>
          <p:nvPr/>
        </p:nvSpPr>
        <p:spPr>
          <a:xfrm>
            <a:off x="5772150" y="2371725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majority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6D8B7D-3A57-4062-83F5-10697B28E97B}"/>
              </a:ext>
            </a:extLst>
          </p:cNvPr>
          <p:cNvSpPr>
            <a:spLocks noGrp="1"/>
          </p:cNvSpPr>
          <p:nvPr/>
        </p:nvSpPr>
        <p:spPr>
          <a:xfrm>
            <a:off x="5772150" y="2628900"/>
            <a:ext cx="17716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多数类</a:t>
            </a:r>
            <a:r>
              <a:rPr sz="97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baseline accuracy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B24524D-1805-4FAA-B7BA-05C10B005E1F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21907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1E4871-3CDB-4B57-94CF-D84E6C5F15BB}"/>
              </a:ext>
            </a:extLst>
          </p:cNvPr>
          <p:cNvSpPr>
            <a:spLocks noGrp="1"/>
          </p:cNvSpPr>
          <p:nvPr/>
        </p:nvSpPr>
        <p:spPr>
          <a:xfrm>
            <a:off x="8210550" y="180975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rPr>
              <a:t>120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DEEE31-3114-45DE-929C-6F6E41C21D83}"/>
              </a:ext>
            </a:extLst>
          </p:cNvPr>
          <p:cNvSpPr>
            <a:spLocks noGrp="1"/>
          </p:cNvSpPr>
          <p:nvPr/>
        </p:nvSpPr>
        <p:spPr>
          <a:xfrm>
            <a:off x="8210550" y="2371725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scenes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05235B-59D1-409B-B687-FF0895AF92CD}"/>
              </a:ext>
            </a:extLst>
          </p:cNvPr>
          <p:cNvSpPr>
            <a:spLocks noGrp="1"/>
          </p:cNvSpPr>
          <p:nvPr/>
        </p:nvSpPr>
        <p:spPr>
          <a:xfrm>
            <a:off x="8210550" y="2628900"/>
            <a:ext cx="17716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scene-level split </a:t>
            </a:r>
            <a:r>
              <a:rPr sz="97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泛化</a:t>
            </a:r>
            <a:endParaRPr sz="975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0A00EA0-2283-4124-836B-4E18A47D784A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E4F7FC"/>
          </a:solidFill>
          <a:ln w="9525">
            <a:solidFill>
              <a:srgbClr val="00A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7F1C75-4FC9-4404-B01B-43C3A676FBC0}"/>
              </a:ext>
            </a:extLst>
          </p:cNvPr>
          <p:cNvSpPr>
            <a:spLocks noGrp="1"/>
          </p:cNvSpPr>
          <p:nvPr/>
        </p:nvSpPr>
        <p:spPr>
          <a:xfrm>
            <a:off x="933450" y="371475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MoveAhead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0517990-4272-4EBE-A1F0-C82BE842C164}"/>
              </a:ext>
            </a:extLst>
          </p:cNvPr>
          <p:cNvSpPr>
            <a:spLocks noGrp="1"/>
          </p:cNvSpPr>
          <p:nvPr/>
        </p:nvSpPr>
        <p:spPr>
          <a:xfrm>
            <a:off x="3200400" y="36385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 w="9525">
            <a:solidFill>
              <a:srgbClr val="6C6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545D22-A367-4EEF-BD0C-CA702E9F2828}"/>
              </a:ext>
            </a:extLst>
          </p:cNvPr>
          <p:cNvSpPr>
            <a:spLocks noGrp="1"/>
          </p:cNvSpPr>
          <p:nvPr/>
        </p:nvSpPr>
        <p:spPr>
          <a:xfrm>
            <a:off x="3314700" y="371475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MoveBack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580ED6E-2862-4F3F-9226-590B441B56FE}"/>
              </a:ext>
            </a:extLst>
          </p:cNvPr>
          <p:cNvSpPr>
            <a:spLocks noGrp="1"/>
          </p:cNvSpPr>
          <p:nvPr/>
        </p:nvSpPr>
        <p:spPr>
          <a:xfrm>
            <a:off x="5581650" y="36385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FFF5D6"/>
          </a:solidFill>
          <a:ln w="9525">
            <a:solidFill>
              <a:srgbClr val="FFB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883CB7-3431-416D-8120-BAC9AB0E8578}"/>
              </a:ext>
            </a:extLst>
          </p:cNvPr>
          <p:cNvSpPr>
            <a:spLocks noGrp="1"/>
          </p:cNvSpPr>
          <p:nvPr/>
        </p:nvSpPr>
        <p:spPr>
          <a:xfrm>
            <a:off x="5695950" y="371475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rPr>
              <a:t>MoveLeft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6784C96-3644-47DC-B9C9-7870436D87F1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E4F7FC"/>
          </a:solidFill>
          <a:ln w="9525">
            <a:solidFill>
              <a:srgbClr val="00A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783B9C2-CC6C-4DCA-BCAE-D0481F3BD0D9}"/>
              </a:ext>
            </a:extLst>
          </p:cNvPr>
          <p:cNvSpPr>
            <a:spLocks noGrp="1"/>
          </p:cNvSpPr>
          <p:nvPr/>
        </p:nvSpPr>
        <p:spPr>
          <a:xfrm>
            <a:off x="933450" y="42672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MoveRight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14C3FF6-A2A4-4765-AA12-2633143A8B80}"/>
              </a:ext>
            </a:extLst>
          </p:cNvPr>
          <p:cNvSpPr>
            <a:spLocks noGrp="1"/>
          </p:cNvSpPr>
          <p:nvPr/>
        </p:nvSpPr>
        <p:spPr>
          <a:xfrm>
            <a:off x="3200400" y="419100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 w="9525">
            <a:solidFill>
              <a:srgbClr val="6C6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A2DB898-A00B-46E0-B872-CD38EBEC29AE}"/>
              </a:ext>
            </a:extLst>
          </p:cNvPr>
          <p:cNvSpPr>
            <a:spLocks noGrp="1"/>
          </p:cNvSpPr>
          <p:nvPr/>
        </p:nvSpPr>
        <p:spPr>
          <a:xfrm>
            <a:off x="3314700" y="42672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RotateLeft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5755F7B-E22C-45C0-8BA7-17E7667168BC}"/>
              </a:ext>
            </a:extLst>
          </p:cNvPr>
          <p:cNvSpPr>
            <a:spLocks noGrp="1"/>
          </p:cNvSpPr>
          <p:nvPr/>
        </p:nvSpPr>
        <p:spPr>
          <a:xfrm>
            <a:off x="5581650" y="419100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FFF5D6"/>
          </a:solidFill>
          <a:ln w="9525">
            <a:solidFill>
              <a:srgbClr val="FFB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6029495-1CA3-41DC-B9C1-4909F302620D}"/>
              </a:ext>
            </a:extLst>
          </p:cNvPr>
          <p:cNvSpPr>
            <a:spLocks noGrp="1"/>
          </p:cNvSpPr>
          <p:nvPr/>
        </p:nvSpPr>
        <p:spPr>
          <a:xfrm>
            <a:off x="5695950" y="426720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rPr>
              <a:t>RotateRight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D61D029-4A20-4D9B-BCAA-2E038F4BF1F9}"/>
              </a:ext>
            </a:extLst>
          </p:cNvPr>
          <p:cNvSpPr>
            <a:spLocks noGrp="1"/>
          </p:cNvSpPr>
          <p:nvPr/>
        </p:nvSpPr>
        <p:spPr>
          <a:xfrm>
            <a:off x="819150" y="47434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E4F7FC"/>
          </a:solidFill>
          <a:ln w="9525">
            <a:solidFill>
              <a:srgbClr val="00A9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F609828-3177-49A6-9006-AFB4F86FAEAD}"/>
              </a:ext>
            </a:extLst>
          </p:cNvPr>
          <p:cNvSpPr>
            <a:spLocks noGrp="1"/>
          </p:cNvSpPr>
          <p:nvPr/>
        </p:nvSpPr>
        <p:spPr>
          <a:xfrm>
            <a:off x="933450" y="481965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LookUp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31C69C1-DA57-4516-BE0B-E78D57D87578}"/>
              </a:ext>
            </a:extLst>
          </p:cNvPr>
          <p:cNvSpPr>
            <a:spLocks noGrp="1"/>
          </p:cNvSpPr>
          <p:nvPr/>
        </p:nvSpPr>
        <p:spPr>
          <a:xfrm>
            <a:off x="3200400" y="47434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EEEFFE"/>
          </a:solidFill>
          <a:ln w="9525">
            <a:solidFill>
              <a:srgbClr val="6C63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F1B8583-C0A1-4411-8257-B10899A06B26}"/>
              </a:ext>
            </a:extLst>
          </p:cNvPr>
          <p:cNvSpPr>
            <a:spLocks noGrp="1"/>
          </p:cNvSpPr>
          <p:nvPr/>
        </p:nvSpPr>
        <p:spPr>
          <a:xfrm>
            <a:off x="3314700" y="481965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LookDown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AA61A2E-06E2-4106-ADAE-D1D3D3796E8A}"/>
              </a:ext>
            </a:extLst>
          </p:cNvPr>
          <p:cNvSpPr>
            <a:spLocks noGrp="1"/>
          </p:cNvSpPr>
          <p:nvPr/>
        </p:nvSpPr>
        <p:spPr>
          <a:xfrm>
            <a:off x="5581650" y="47434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FFF5D6"/>
          </a:solidFill>
          <a:ln w="9525">
            <a:solidFill>
              <a:srgbClr val="FFB0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2B2247-8682-41F4-A955-04A924853721}"/>
              </a:ext>
            </a:extLst>
          </p:cNvPr>
          <p:cNvSpPr>
            <a:spLocks noGrp="1"/>
          </p:cNvSpPr>
          <p:nvPr/>
        </p:nvSpPr>
        <p:spPr>
          <a:xfrm>
            <a:off x="5695950" y="481965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B000"/>
                </a:solidFill>
                <a:latin typeface="Noto Sans SC"/>
                <a:ea typeface="Noto Sans SC"/>
                <a:cs typeface="Noto Sans SC"/>
              </a:rPr>
              <a:t>Stay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DDEF6E1-E8A4-43D8-93AD-7DAD7768A00A}"/>
              </a:ext>
            </a:extLst>
          </p:cNvPr>
          <p:cNvSpPr>
            <a:spLocks noGrp="1"/>
          </p:cNvSpPr>
          <p:nvPr/>
        </p:nvSpPr>
        <p:spPr>
          <a:xfrm>
            <a:off x="7910512" y="3743325"/>
            <a:ext cx="342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动作设计覆盖平移、旋转、俯仰和不移动。Stay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是部署时减少无收益移动的关键输出</a:t>
            </a:r>
            <a:endParaRPr sz="16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F4DD32F-3029-4E2F-8656-6CBACBAF8FD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0BC569D-B8DD-4A63-8933-00E7748273D2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B86FE5-7D3E-4EA1-8DE7-8FA5D356F0F5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0542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EEB68AF-7DDA-4B1A-BA56-DCA711270F3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05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B98811-F6FC-406C-9FBA-0BED9CCA883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模型结构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222B4E-8E57-4207-8318-FDBB3611E9E1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5FD547-CDAD-4352-932E-5E5BC9F72CD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融合语义、几何和相机状态，输出每个候选动作的 predicted gain score。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F1C97F-5304-47BC-A0EA-BCC9AE74410A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964531"/>
            <a:ext cx="6572250" cy="3286126"/>
          </a:xfrm>
          <a:prstGeom prst="roundRect">
            <a:avLst>
              <a:gd name="adj" fmla="val 1860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0C3D15AA-8B49-42BB-8342-AD7BA2FDA99E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143250" cy="876300"/>
          </a:xfrm>
          <a:prstGeom prst="roundRect">
            <a:avLst>
              <a:gd name="adj" fmla="val 13043"/>
            </a:avLst>
          </a:prstGeom>
          <a:solidFill>
            <a:srgbClr val="E4F7FC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83A9A5-C334-4D06-8A9F-B0E7C4A555EE}"/>
              </a:ext>
            </a:extLst>
          </p:cNvPr>
          <p:cNvSpPr>
            <a:spLocks noGrp="1"/>
          </p:cNvSpPr>
          <p:nvPr/>
        </p:nvSpPr>
        <p:spPr>
          <a:xfrm>
            <a:off x="7696200" y="1790700"/>
            <a:ext cx="57150" cy="4000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E95685-801D-423F-8405-4CB2F882919A}"/>
              </a:ext>
            </a:extLst>
          </p:cNvPr>
          <p:cNvSpPr>
            <a:spLocks noGrp="1"/>
          </p:cNvSpPr>
          <p:nvPr/>
        </p:nvSpPr>
        <p:spPr>
          <a:xfrm>
            <a:off x="7848600" y="17145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Qwen3-VL hidden state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0AD15A-F633-42C7-97EB-2A3A70AB73FF}"/>
              </a:ext>
            </a:extLst>
          </p:cNvPr>
          <p:cNvSpPr>
            <a:spLocks noGrp="1"/>
          </p:cNvSpPr>
          <p:nvPr/>
        </p:nvSpPr>
        <p:spPr>
          <a:xfrm>
            <a:off x="7848600" y="20129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冻结</a:t>
            </a:r>
            <a:r>
              <a:rPr sz="112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12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VLM，取最后一层</a:t>
            </a:r>
            <a:r>
              <a:rPr sz="112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hidden state 并 masked mean pooling。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1298191-C3F6-4F2E-8205-A0633302E431}"/>
              </a:ext>
            </a:extLst>
          </p:cNvPr>
          <p:cNvSpPr>
            <a:spLocks noGrp="1"/>
          </p:cNvSpPr>
          <p:nvPr/>
        </p:nvSpPr>
        <p:spPr>
          <a:xfrm>
            <a:off x="7524750" y="2762250"/>
            <a:ext cx="3143250" cy="876300"/>
          </a:xfrm>
          <a:prstGeom prst="roundRect">
            <a:avLst>
              <a:gd name="adj" fmla="val 13043"/>
            </a:avLst>
          </a:prstGeom>
          <a:solidFill>
            <a:srgbClr val="EEEFFE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B1E363-C26B-4507-A939-7AA39C4A1D8C}"/>
              </a:ext>
            </a:extLst>
          </p:cNvPr>
          <p:cNvSpPr>
            <a:spLocks noGrp="1"/>
          </p:cNvSpPr>
          <p:nvPr/>
        </p:nvSpPr>
        <p:spPr>
          <a:xfrm>
            <a:off x="7696200" y="2933700"/>
            <a:ext cx="57150" cy="40005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1D9FE0-47DE-4679-987D-B7FE21E8DE97}"/>
              </a:ext>
            </a:extLst>
          </p:cNvPr>
          <p:cNvSpPr>
            <a:spLocks noGrp="1"/>
          </p:cNvSpPr>
          <p:nvPr/>
        </p:nvSpPr>
        <p:spPr>
          <a:xfrm>
            <a:off x="7848600" y="28575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Depth CNN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ADAA18-1D55-409A-8A5F-065ED862C1E0}"/>
              </a:ext>
            </a:extLst>
          </p:cNvPr>
          <p:cNvSpPr>
            <a:spLocks noGrp="1"/>
          </p:cNvSpPr>
          <p:nvPr/>
        </p:nvSpPr>
        <p:spPr>
          <a:xfrm>
            <a:off x="7848600" y="31559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输入 D、1-D、depth edge 三通道，编码遮挡与局部几何。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A220971-CC87-4904-9F1D-105E5BE91146}"/>
              </a:ext>
            </a:extLst>
          </p:cNvPr>
          <p:cNvSpPr>
            <a:spLocks noGrp="1"/>
          </p:cNvSpPr>
          <p:nvPr/>
        </p:nvSpPr>
        <p:spPr>
          <a:xfrm>
            <a:off x="7524750" y="3905250"/>
            <a:ext cx="3143250" cy="876300"/>
          </a:xfrm>
          <a:prstGeom prst="roundRect">
            <a:avLst>
              <a:gd name="adj" fmla="val 13043"/>
            </a:avLst>
          </a:prstGeom>
          <a:solidFill>
            <a:srgbClr val="FFF5D6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0C43BA-E339-4480-94DF-3CBFE4C74225}"/>
              </a:ext>
            </a:extLst>
          </p:cNvPr>
          <p:cNvSpPr>
            <a:spLocks noGrp="1"/>
          </p:cNvSpPr>
          <p:nvPr/>
        </p:nvSpPr>
        <p:spPr>
          <a:xfrm>
            <a:off x="7696200" y="4076700"/>
            <a:ext cx="57150" cy="4000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5175B6-A889-4FC5-A0B6-E51384906D38}"/>
              </a:ext>
            </a:extLst>
          </p:cNvPr>
          <p:cNvSpPr>
            <a:spLocks noGrp="1"/>
          </p:cNvSpPr>
          <p:nvPr/>
        </p:nvSpPr>
        <p:spPr>
          <a:xfrm>
            <a:off x="7848600" y="40005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Pose MLP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878C3C7-3B69-4747-BC76-B8187EA5B916}"/>
              </a:ext>
            </a:extLst>
          </p:cNvPr>
          <p:cNvSpPr>
            <a:spLocks noGrp="1"/>
          </p:cNvSpPr>
          <p:nvPr/>
        </p:nvSpPr>
        <p:spPr>
          <a:xfrm>
            <a:off x="7848600" y="42989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使用位置、yaw</a:t>
            </a:r>
            <a:r>
              <a:rPr sz="112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sin/</a:t>
            </a:r>
            <a:r>
              <a:rPr sz="112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cos、horizon、standing</a:t>
            </a:r>
            <a:r>
              <a:rPr sz="112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125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状态</a:t>
            </a:r>
            <a:r>
              <a:rPr sz="1125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9B7751-982E-44E5-9FDF-42EDD1A10A42}"/>
              </a:ext>
            </a:extLst>
          </p:cNvPr>
          <p:cNvSpPr>
            <a:spLocks noGrp="1"/>
          </p:cNvSpPr>
          <p:nvPr/>
        </p:nvSpPr>
        <p:spPr>
          <a:xfrm>
            <a:off x="7524750" y="5143500"/>
            <a:ext cx="405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输出：9 </a:t>
            </a:r>
            <a:r>
              <a:rPr sz="1350" b="1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维动作收益向量</a:t>
            </a:r>
            <a:r>
              <a:rPr sz="1350" b="1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 [</a:t>
            </a:r>
            <a:r>
              <a:rPr sz="1350" b="1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MoveAhead</a:t>
            </a:r>
            <a:r>
              <a:rPr sz="1350" b="1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 ... Stay]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E9031F-645D-4ED0-B24C-F0FCDE33F1C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4CE82E-A848-4274-A817-FAB2C5A89D55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3C5D96-A05B-4FA1-B0EB-B0193993D198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4818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115A98FE-77AF-4582-8990-523941B4151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05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5F3E42-3B10-41C3-8662-C000B6D5082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训练目标与 Stay 推理策略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4EBDAD-7743-4779-A817-7815BBC99A0B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41112F-39FB-4218-9D41-E0A156FA958D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从分类训练转向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gain-score regression/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ranking，更贴合“提升可见性”的目标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C9B135-6AFF-4CA9-A6B7-6376158435E9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9DD1F4D-E43E-4B5A-AAEB-AC814D25E171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E4F7FC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0FBB48-7309-4FF3-860B-25015CBB7288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57150" cy="4000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4E91DE-A1E6-4665-A256-CBF9066A3F36}"/>
              </a:ext>
            </a:extLst>
          </p:cNvPr>
          <p:cNvSpPr>
            <a:spLocks noGrp="1"/>
          </p:cNvSpPr>
          <p:nvPr/>
        </p:nvSpPr>
        <p:spPr>
          <a:xfrm>
            <a:off x="1028700" y="18478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Gain-score objective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07B768-857B-40B2-8EA7-FB07A2DC2A39}"/>
              </a:ext>
            </a:extLst>
          </p:cNvPr>
          <p:cNvSpPr>
            <a:spLocks noGrp="1"/>
          </p:cNvSpPr>
          <p:nvPr/>
        </p:nvSpPr>
        <p:spPr>
          <a:xfrm>
            <a:off x="1028700" y="219075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直接回归每个动作的真实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gain，并加入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ranking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loss，使最优动作分数更高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DAA237B-5FF5-443B-BC16-56B696EA529D}"/>
              </a:ext>
            </a:extLst>
          </p:cNvPr>
          <p:cNvSpPr>
            <a:spLocks noGrp="1"/>
          </p:cNvSpPr>
          <p:nvPr/>
        </p:nvSpPr>
        <p:spPr>
          <a:xfrm>
            <a:off x="4514850" y="169545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EEEFFE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41719A-7599-4EED-B4C0-036820EF3EAE}"/>
              </a:ext>
            </a:extLst>
          </p:cNvPr>
          <p:cNvSpPr>
            <a:spLocks noGrp="1"/>
          </p:cNvSpPr>
          <p:nvPr/>
        </p:nvSpPr>
        <p:spPr>
          <a:xfrm>
            <a:off x="4686300" y="1866900"/>
            <a:ext cx="57150" cy="40005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B739BE-D4BC-4B10-870F-14C2ECC1EE6F}"/>
              </a:ext>
            </a:extLst>
          </p:cNvPr>
          <p:cNvSpPr>
            <a:spLocks noGrp="1"/>
          </p:cNvSpPr>
          <p:nvPr/>
        </p:nvSpPr>
        <p:spPr>
          <a:xfrm>
            <a:off x="4838700" y="184785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Selection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3C4157-0579-4841-B2D3-F41CC16C00E7}"/>
              </a:ext>
            </a:extLst>
          </p:cNvPr>
          <p:cNvSpPr>
            <a:spLocks noGrp="1"/>
          </p:cNvSpPr>
          <p:nvPr/>
        </p:nvSpPr>
        <p:spPr>
          <a:xfrm>
            <a:off x="4838700" y="219075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选择预测收益最大的动作；若所有移动动作预测收益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           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≤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threshold，则选择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Stay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74FE3FC-DEA9-442D-9190-7BF45D61B203}"/>
              </a:ext>
            </a:extLst>
          </p:cNvPr>
          <p:cNvSpPr>
            <a:spLocks noGrp="1"/>
          </p:cNvSpPr>
          <p:nvPr/>
        </p:nvSpPr>
        <p:spPr>
          <a:xfrm>
            <a:off x="8324850" y="169545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FF5D6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31EA3F-7BC1-46F3-A988-2025594C5371}"/>
              </a:ext>
            </a:extLst>
          </p:cNvPr>
          <p:cNvSpPr>
            <a:spLocks noGrp="1"/>
          </p:cNvSpPr>
          <p:nvPr/>
        </p:nvSpPr>
        <p:spPr>
          <a:xfrm>
            <a:off x="8496300" y="1866900"/>
            <a:ext cx="57150" cy="4000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2BFB22-3425-4D8F-B0FD-E579D3830BC5}"/>
              </a:ext>
            </a:extLst>
          </p:cNvPr>
          <p:cNvSpPr>
            <a:spLocks noGrp="1"/>
          </p:cNvSpPr>
          <p:nvPr/>
        </p:nvSpPr>
        <p:spPr>
          <a:xfrm>
            <a:off x="8648700" y="18478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Why not only CE?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09EE74-1B1B-43D6-9423-D5B74076870C}"/>
              </a:ext>
            </a:extLst>
          </p:cNvPr>
          <p:cNvSpPr>
            <a:spLocks noGrp="1"/>
          </p:cNvSpPr>
          <p:nvPr/>
        </p:nvSpPr>
        <p:spPr>
          <a:xfrm>
            <a:off x="8648700" y="2190750"/>
            <a:ext cx="2362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多个动作可能同时有正收益，单一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label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会丢失动作之间的连续优劣关系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5EFA21C-F337-41CD-BBAB-4E2ADB39F9CF}"/>
              </a:ext>
            </a:extLst>
          </p:cNvPr>
          <p:cNvSpPr>
            <a:spLocks noGrp="1"/>
          </p:cNvSpPr>
          <p:nvPr/>
        </p:nvSpPr>
        <p:spPr>
          <a:xfrm>
            <a:off x="857250" y="3857625"/>
            <a:ext cx="4476750" cy="1666875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FF7AB2-B5E9-45A6-ABE4-EF55063BC40C}"/>
              </a:ext>
            </a:extLst>
          </p:cNvPr>
          <p:cNvSpPr>
            <a:spLocks noGrp="1"/>
          </p:cNvSpPr>
          <p:nvPr/>
        </p:nvSpPr>
        <p:spPr>
          <a:xfrm>
            <a:off x="1085850" y="4029075"/>
            <a:ext cx="401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分类 vs Gain-score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534D3B-8B92-420F-BE5C-569501CF0FEF}"/>
              </a:ext>
            </a:extLst>
          </p:cNvPr>
          <p:cNvSpPr>
            <a:spLocks noGrp="1"/>
          </p:cNvSpPr>
          <p:nvPr/>
        </p:nvSpPr>
        <p:spPr>
          <a:xfrm>
            <a:off x="1085850" y="451485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CE mean gain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69EA53-CE06-4DCB-8EBB-DC90C038D932}"/>
              </a:ext>
            </a:extLst>
          </p:cNvPr>
          <p:cNvSpPr>
            <a:spLocks noGrp="1"/>
          </p:cNvSpPr>
          <p:nvPr/>
        </p:nvSpPr>
        <p:spPr>
          <a:xfrm>
            <a:off x="2286000" y="4524375"/>
            <a:ext cx="2476500" cy="171450"/>
          </a:xfrm>
          <a:prstGeom prst="rect">
            <a:avLst/>
          </a:prstGeom>
          <a:solidFill>
            <a:srgbClr val="ECF2F8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C3DB21-9496-418E-811A-0CFE92E8ADC5}"/>
              </a:ext>
            </a:extLst>
          </p:cNvPr>
          <p:cNvSpPr>
            <a:spLocks noGrp="1"/>
          </p:cNvSpPr>
          <p:nvPr/>
        </p:nvSpPr>
        <p:spPr>
          <a:xfrm>
            <a:off x="2286000" y="4524375"/>
            <a:ext cx="884661" cy="1714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72D2AE-8919-46CA-A1B1-8D9BC2238DC4}"/>
              </a:ext>
            </a:extLst>
          </p:cNvPr>
          <p:cNvSpPr>
            <a:spLocks noGrp="1"/>
          </p:cNvSpPr>
          <p:nvPr/>
        </p:nvSpPr>
        <p:spPr>
          <a:xfrm>
            <a:off x="4876800" y="44958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643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CACE32-F101-4D81-AEB4-78394E06952F}"/>
              </a:ext>
            </a:extLst>
          </p:cNvPr>
          <p:cNvSpPr>
            <a:spLocks noGrp="1"/>
          </p:cNvSpPr>
          <p:nvPr/>
        </p:nvSpPr>
        <p:spPr>
          <a:xfrm>
            <a:off x="1085850" y="491490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Gain-score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167E3AB-72C4-49A0-BFF2-B730CF6CDC85}"/>
              </a:ext>
            </a:extLst>
          </p:cNvPr>
          <p:cNvSpPr>
            <a:spLocks noGrp="1"/>
          </p:cNvSpPr>
          <p:nvPr/>
        </p:nvSpPr>
        <p:spPr>
          <a:xfrm>
            <a:off x="2286000" y="4924425"/>
            <a:ext cx="2476500" cy="171450"/>
          </a:xfrm>
          <a:prstGeom prst="rect">
            <a:avLst/>
          </a:prstGeom>
          <a:solidFill>
            <a:srgbClr val="ECF2F8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065809-C00F-436E-BC3A-58A7B63BA671}"/>
              </a:ext>
            </a:extLst>
          </p:cNvPr>
          <p:cNvSpPr>
            <a:spLocks noGrp="1"/>
          </p:cNvSpPr>
          <p:nvPr/>
        </p:nvSpPr>
        <p:spPr>
          <a:xfrm>
            <a:off x="2286000" y="4924425"/>
            <a:ext cx="2440728" cy="1714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D5B02D7-0202-432D-A2E9-8515D101848A}"/>
              </a:ext>
            </a:extLst>
          </p:cNvPr>
          <p:cNvSpPr>
            <a:spLocks noGrp="1"/>
          </p:cNvSpPr>
          <p:nvPr/>
        </p:nvSpPr>
        <p:spPr>
          <a:xfrm>
            <a:off x="4876800" y="48958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1774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3CC263A-17C1-4FEE-9E21-F9393DF064C5}"/>
              </a:ext>
            </a:extLst>
          </p:cNvPr>
          <p:cNvSpPr>
            <a:spLocks noGrp="1"/>
          </p:cNvSpPr>
          <p:nvPr/>
        </p:nvSpPr>
        <p:spPr>
          <a:xfrm>
            <a:off x="6000750" y="3886200"/>
            <a:ext cx="4762500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67CFF1B-D6A1-425D-BB28-1D3028716760}"/>
              </a:ext>
            </a:extLst>
          </p:cNvPr>
          <p:cNvSpPr>
            <a:spLocks noGrp="1"/>
          </p:cNvSpPr>
          <p:nvPr/>
        </p:nvSpPr>
        <p:spPr>
          <a:xfrm>
            <a:off x="6248400" y="40957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关键公式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B843C5D-7BE7-4B6C-A41D-AD0E71030E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248400" y="4438650"/>
                <a:ext cx="4000500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1275" b="1">
                    <a:solidFill>
                      <a:srgbClr val="102033"/>
                    </a:solidFill>
                    <a:latin typeface="Aptos Mono"/>
                    <a:ea typeface="Aptos Mono"/>
                    <a:cs typeface="Aptos Mono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𝑳</m:t>
                      </m:r>
                      <m:r>
                        <a:rPr lang="en-US" altLang="zh-CN" sz="1400" b="1" i="1" dirty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=</m:t>
                      </m:r>
                      <m:r>
                        <a:rPr lang="zh-CN" altLang="en-US" sz="1400" b="1" i="1" dirty="0" err="1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𝒍𝒂𝒎𝒃𝒅</m:t>
                      </m:r>
                      <m:sSub>
                        <m:sSubPr>
                          <m:ctrlPr>
                            <a:rPr lang="en-US" altLang="zh-CN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zh-CN" altLang="en-US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𝒂</m:t>
                          </m:r>
                        </m:e>
                        <m:sub>
                          <m:r>
                            <a:rPr lang="zh-CN" altLang="en-US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𝒔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∗</m:t>
                      </m:r>
                      <m:sSub>
                        <m:sSubPr>
                          <m:ctrlPr>
                            <a:rPr lang="en-US" altLang="zh-CN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zh-CN" altLang="en-US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𝒍</m:t>
                          </m:r>
                        </m:e>
                        <m:sub>
                          <m:r>
                            <a:rPr lang="zh-CN" altLang="en-US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𝒔𝒄𝒐𝒓𝒆</m:t>
                          </m:r>
                        </m:sub>
                      </m:sSub>
                      <m:r>
                        <a:rPr lang="en-US" altLang="zh-CN" sz="1400" b="1" i="1" dirty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+ </m:t>
                      </m:r>
                      <m:r>
                        <a:rPr lang="zh-CN" altLang="en-US" sz="1400" b="1" i="1" dirty="0" err="1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𝒍𝒂𝒎𝒃𝒅</m:t>
                      </m:r>
                      <m:sSub>
                        <m:sSubPr>
                          <m:ctrlPr>
                            <a:rPr lang="en-US" altLang="zh-CN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zh-CN" altLang="en-US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𝒂</m:t>
                          </m:r>
                        </m:e>
                        <m:sub>
                          <m:r>
                            <a:rPr lang="zh-CN" altLang="en-US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𝒓</m:t>
                          </m:r>
                        </m:sub>
                      </m:sSub>
                      <m:r>
                        <a:rPr lang="en-US" altLang="zh-CN" sz="1400" b="1" i="1" dirty="0" smtClean="0">
                          <a:solidFill>
                            <a:srgbClr val="102033"/>
                          </a:solidFill>
                          <a:latin typeface="Cambria Math" panose="02040503050406030204" pitchFamily="18" charset="0"/>
                          <a:ea typeface="Aptos Mono"/>
                          <a:cs typeface="Aptos Mono"/>
                        </a:rPr>
                        <m:t>∗</m:t>
                      </m:r>
                      <m:sSub>
                        <m:sSubPr>
                          <m:ctrlPr>
                            <a:rPr lang="en-US" altLang="zh-CN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</m:ctrlPr>
                        </m:sSubPr>
                        <m:e>
                          <m:r>
                            <a:rPr lang="zh-CN" altLang="en-US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𝒍</m:t>
                          </m:r>
                        </m:e>
                        <m:sub>
                          <m:r>
                            <a:rPr lang="zh-CN" altLang="en-US" sz="1400" b="1" i="1" dirty="0" err="1">
                              <a:solidFill>
                                <a:srgbClr val="102033"/>
                              </a:solidFill>
                              <a:latin typeface="Cambria Math" panose="02040503050406030204" pitchFamily="18" charset="0"/>
                              <a:ea typeface="Aptos Mono"/>
                              <a:cs typeface="Aptos Mono"/>
                            </a:rPr>
                            <m:t>𝒓𝒂𝒏𝒌</m:t>
                          </m:r>
                        </m:sub>
                      </m:sSub>
                    </m:oMath>
                  </m:oMathPara>
                </a14:m>
                <a:endParaRPr sz="1275" b="1" dirty="0">
                  <a:solidFill>
                    <a:srgbClr val="102033"/>
                  </a:solidFill>
                  <a:latin typeface="Aptos Mono"/>
                  <a:ea typeface="Aptos Mono"/>
                  <a:cs typeface="Aptos Mono"/>
                </a:endParaRPr>
              </a:p>
            </p:txBody>
          </p:sp>
        </mc:Choice>
        <mc:Fallback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B843C5D-7BE7-4B6C-A41D-AD0E71030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4438650"/>
                <a:ext cx="4000500" cy="247650"/>
              </a:xfrm>
              <a:prstGeom prst="rect">
                <a:avLst/>
              </a:prstGeom>
              <a:blipFill>
                <a:blip r:embed="rId3"/>
                <a:stretch>
                  <a:fillRect b="-19512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DDBD2C3B-336B-42FA-89BE-1166CB20C84A}"/>
              </a:ext>
            </a:extLst>
          </p:cNvPr>
          <p:cNvSpPr>
            <a:spLocks noGrp="1"/>
          </p:cNvSpPr>
          <p:nvPr/>
        </p:nvSpPr>
        <p:spPr>
          <a:xfrm>
            <a:off x="6667500" y="47625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 dirty="0">
                <a:solidFill>
                  <a:srgbClr val="2CCB8E"/>
                </a:solidFill>
                <a:latin typeface="Noto Sans SC"/>
                <a:ea typeface="Noto Sans SC"/>
                <a:cs typeface="Noto Sans SC"/>
              </a:rPr>
              <a:t>Mean gain: 642.64 → 1773.59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727FAA-DFC5-4993-8DF8-6EE29EF9D7B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2A64873-EFAA-4D00-B432-FEB5C52DC0B4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0B59C24-F34E-4929-B0B2-FDFFD80661E1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316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1C8635BB-5667-4D07-8364-28517C34CFE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06 EXPERIMENT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D536C5-8C82-4418-824B-0D0C74F7216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实验设置与评价指标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2A56EB-EB13-4D3B-9006-549D70C5C4C0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59F496-36D8-4287-996E-8DFB8BA9EA40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评价不只看分类准确率，更关注动作执行后是否真的提升目标可见性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BCAB67-F438-4902-81CC-53380B51DC72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C838D27-3273-4E4B-BEB9-6A0BE133EADD}"/>
              </a:ext>
            </a:extLst>
          </p:cNvPr>
          <p:cNvSpPr>
            <a:spLocks noGrp="1"/>
          </p:cNvSpPr>
          <p:nvPr/>
        </p:nvSpPr>
        <p:spPr>
          <a:xfrm>
            <a:off x="714375" y="1600200"/>
            <a:ext cx="2952750" cy="1162050"/>
          </a:xfrm>
          <a:prstGeom prst="roundRect">
            <a:avLst>
              <a:gd name="adj" fmla="val 9836"/>
            </a:avLst>
          </a:prstGeom>
          <a:solidFill>
            <a:srgbClr val="E4F7FC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A35ED3-B4C8-43DA-9224-99B2CD64CB06}"/>
              </a:ext>
            </a:extLst>
          </p:cNvPr>
          <p:cNvSpPr>
            <a:spLocks noGrp="1"/>
          </p:cNvSpPr>
          <p:nvPr/>
        </p:nvSpPr>
        <p:spPr>
          <a:xfrm>
            <a:off x="885825" y="1771650"/>
            <a:ext cx="57150" cy="4000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328AC4-F408-480F-936C-0181132D2927}"/>
              </a:ext>
            </a:extLst>
          </p:cNvPr>
          <p:cNvSpPr>
            <a:spLocks noGrp="1"/>
          </p:cNvSpPr>
          <p:nvPr/>
        </p:nvSpPr>
        <p:spPr>
          <a:xfrm>
            <a:off x="1038225" y="17526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数据划分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781DBD-4B94-404B-BB47-3DE6CCF21F65}"/>
              </a:ext>
            </a:extLst>
          </p:cNvPr>
          <p:cNvSpPr>
            <a:spLocks noGrp="1"/>
          </p:cNvSpPr>
          <p:nvPr/>
        </p:nvSpPr>
        <p:spPr>
          <a:xfrm>
            <a:off x="1066800" y="1990725"/>
            <a:ext cx="2457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scene-level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split：验证集房间与训练房间不同，更接近跨房间泛化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2D20BF5-8A75-43B8-A4D9-A7C5FC8BE0B9}"/>
              </a:ext>
            </a:extLst>
          </p:cNvPr>
          <p:cNvSpPr>
            <a:spLocks noGrp="1"/>
          </p:cNvSpPr>
          <p:nvPr/>
        </p:nvSpPr>
        <p:spPr>
          <a:xfrm>
            <a:off x="4095750" y="1600200"/>
            <a:ext cx="2952750" cy="1162050"/>
          </a:xfrm>
          <a:prstGeom prst="roundRect">
            <a:avLst>
              <a:gd name="adj" fmla="val 9836"/>
            </a:avLst>
          </a:prstGeom>
          <a:solidFill>
            <a:srgbClr val="EEEFFE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EEFD87-B95D-482B-A4F2-B5B2CC9AB59E}"/>
              </a:ext>
            </a:extLst>
          </p:cNvPr>
          <p:cNvSpPr>
            <a:spLocks noGrp="1"/>
          </p:cNvSpPr>
          <p:nvPr/>
        </p:nvSpPr>
        <p:spPr>
          <a:xfrm>
            <a:off x="4267200" y="1771650"/>
            <a:ext cx="57150" cy="40005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DD7208-6CB9-429D-B2EE-56BFB90F5B98}"/>
              </a:ext>
            </a:extLst>
          </p:cNvPr>
          <p:cNvSpPr>
            <a:spLocks noGrp="1"/>
          </p:cNvSpPr>
          <p:nvPr/>
        </p:nvSpPr>
        <p:spPr>
          <a:xfrm>
            <a:off x="4419600" y="17526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模型对比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5A58588-2D0F-4179-BF70-FB84847F6948}"/>
              </a:ext>
            </a:extLst>
          </p:cNvPr>
          <p:cNvSpPr>
            <a:spLocks noGrp="1"/>
          </p:cNvSpPr>
          <p:nvPr/>
        </p:nvSpPr>
        <p:spPr>
          <a:xfrm>
            <a:off x="4448175" y="1990725"/>
            <a:ext cx="2457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Qwen3-VL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Full、SigLIP、No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Qwen、No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Depth、No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Pose、Class-balanced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9763F9E-504D-4B61-9317-20EDB4B356DB}"/>
              </a:ext>
            </a:extLst>
          </p:cNvPr>
          <p:cNvSpPr>
            <a:spLocks noGrp="1"/>
          </p:cNvSpPr>
          <p:nvPr/>
        </p:nvSpPr>
        <p:spPr>
          <a:xfrm>
            <a:off x="7477125" y="1600200"/>
            <a:ext cx="2952750" cy="1162050"/>
          </a:xfrm>
          <a:prstGeom prst="roundRect">
            <a:avLst>
              <a:gd name="adj" fmla="val 9836"/>
            </a:avLst>
          </a:prstGeom>
          <a:solidFill>
            <a:srgbClr val="FFF5D6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8EC399-40CB-402D-8FD5-C3C8103D8945}"/>
              </a:ext>
            </a:extLst>
          </p:cNvPr>
          <p:cNvSpPr>
            <a:spLocks noGrp="1"/>
          </p:cNvSpPr>
          <p:nvPr/>
        </p:nvSpPr>
        <p:spPr>
          <a:xfrm>
            <a:off x="7648575" y="1771650"/>
            <a:ext cx="57150" cy="4000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A36BF0-762A-45D6-A50D-4DEDF2665124}"/>
              </a:ext>
            </a:extLst>
          </p:cNvPr>
          <p:cNvSpPr>
            <a:spLocks noGrp="1"/>
          </p:cNvSpPr>
          <p:nvPr/>
        </p:nvSpPr>
        <p:spPr>
          <a:xfrm>
            <a:off x="7800975" y="17526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候选动作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6C4242-90CB-4B57-9607-B4430A3D8D39}"/>
              </a:ext>
            </a:extLst>
          </p:cNvPr>
          <p:cNvSpPr>
            <a:spLocks noGrp="1"/>
          </p:cNvSpPr>
          <p:nvPr/>
        </p:nvSpPr>
        <p:spPr>
          <a:xfrm>
            <a:off x="7829550" y="1990725"/>
            <a:ext cx="2457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所有方法使用相同动作空间与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stay-threshold = 200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进行比较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96C6AD1-2FC6-4263-89CC-3CF1243DD8F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95250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CB6464-B81A-47DB-BC0D-3F6B2936AF7A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2095500" cy="323850"/>
          </a:xfrm>
          <a:prstGeom prst="rect">
            <a:avLst/>
          </a:prstGeom>
          <a:solidFill>
            <a:srgbClr val="182B49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95BFDD-A1F8-449D-B2E5-41A8A699F632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指标</a:t>
            </a:r>
            <a:endParaRPr sz="1050" b="1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915B280-E98C-4521-8DD0-7299BF7EE9F6}"/>
              </a:ext>
            </a:extLst>
          </p:cNvPr>
          <p:cNvSpPr>
            <a:spLocks noGrp="1"/>
          </p:cNvSpPr>
          <p:nvPr/>
        </p:nvSpPr>
        <p:spPr>
          <a:xfrm>
            <a:off x="2952750" y="3619500"/>
            <a:ext cx="3619500" cy="3238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6CB676-EA71-4C41-B4FD-D0F65862EA51}"/>
              </a:ext>
            </a:extLst>
          </p:cNvPr>
          <p:cNvSpPr>
            <a:spLocks noGrp="1"/>
          </p:cNvSpPr>
          <p:nvPr/>
        </p:nvSpPr>
        <p:spPr>
          <a:xfrm>
            <a:off x="3048000" y="37147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含义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0BB7B6-30B4-4B37-A8A6-FD326A0574E8}"/>
              </a:ext>
            </a:extLst>
          </p:cNvPr>
          <p:cNvSpPr>
            <a:spLocks noGrp="1"/>
          </p:cNvSpPr>
          <p:nvPr/>
        </p:nvSpPr>
        <p:spPr>
          <a:xfrm>
            <a:off x="6572250" y="3619500"/>
            <a:ext cx="3810000" cy="3238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17B235-2F8E-4EAF-89F1-6100F9358BCA}"/>
              </a:ext>
            </a:extLst>
          </p:cNvPr>
          <p:cNvSpPr>
            <a:spLocks noGrp="1"/>
          </p:cNvSpPr>
          <p:nvPr/>
        </p:nvSpPr>
        <p:spPr>
          <a:xfrm>
            <a:off x="6667500" y="37147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为什么重要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EF7CA03-CF44-4F28-9F01-524A15010675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Accuracy / Macro F1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5447C96-3BED-4CB8-8AE2-FE1F41E814BE}"/>
              </a:ext>
            </a:extLst>
          </p:cNvPr>
          <p:cNvSpPr>
            <a:spLocks noGrp="1"/>
          </p:cNvSpPr>
          <p:nvPr/>
        </p:nvSpPr>
        <p:spPr>
          <a:xfrm>
            <a:off x="3048000" y="40386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动作分类角度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82A08B-95CC-4303-AA75-DA5329495F41}"/>
              </a:ext>
            </a:extLst>
          </p:cNvPr>
          <p:cNvSpPr>
            <a:spLocks noGrp="1"/>
          </p:cNvSpPr>
          <p:nvPr/>
        </p:nvSpPr>
        <p:spPr>
          <a:xfrm>
            <a:off x="6667500" y="40386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衡量动作标签匹配与类别均衡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7706D9-DC9F-485B-BF5B-E371671A30F9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2095500" cy="32385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C79FE99-E68D-4691-93DC-8054C220AFFF}"/>
              </a:ext>
            </a:extLst>
          </p:cNvPr>
          <p:cNvSpPr>
            <a:spLocks noGrp="1"/>
          </p:cNvSpPr>
          <p:nvPr/>
        </p:nvSpPr>
        <p:spPr>
          <a:xfrm>
            <a:off x="952500" y="43624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Mean predicted gain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47B621-0B99-475E-8102-B2BC21171916}"/>
              </a:ext>
            </a:extLst>
          </p:cNvPr>
          <p:cNvSpPr>
            <a:spLocks noGrp="1"/>
          </p:cNvSpPr>
          <p:nvPr/>
        </p:nvSpPr>
        <p:spPr>
          <a:xfrm>
            <a:off x="2952750" y="4267200"/>
            <a:ext cx="3619500" cy="32385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4DA342B-729E-4946-A776-1B370D5D7687}"/>
              </a:ext>
            </a:extLst>
          </p:cNvPr>
          <p:cNvSpPr>
            <a:spLocks noGrp="1"/>
          </p:cNvSpPr>
          <p:nvPr/>
        </p:nvSpPr>
        <p:spPr>
          <a:xfrm>
            <a:off x="3048000" y="43624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执行预测动作后的真实像素收益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7E0754-ABFA-4603-99C7-322AC1D6A0FB}"/>
              </a:ext>
            </a:extLst>
          </p:cNvPr>
          <p:cNvSpPr>
            <a:spLocks noGrp="1"/>
          </p:cNvSpPr>
          <p:nvPr/>
        </p:nvSpPr>
        <p:spPr>
          <a:xfrm>
            <a:off x="6572250" y="4267200"/>
            <a:ext cx="3810000" cy="32385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D09B70-2E8C-4B14-B9B0-97F6162119AE}"/>
              </a:ext>
            </a:extLst>
          </p:cNvPr>
          <p:cNvSpPr>
            <a:spLocks noGrp="1"/>
          </p:cNvSpPr>
          <p:nvPr/>
        </p:nvSpPr>
        <p:spPr>
          <a:xfrm>
            <a:off x="6667500" y="43624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直接对应可见性提升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337A43-A356-4DE1-9C10-FC9C5B2DE8C1}"/>
              </a:ext>
            </a:extLst>
          </p:cNvPr>
          <p:cNvSpPr>
            <a:spLocks noGrp="1"/>
          </p:cNvSpPr>
          <p:nvPr/>
        </p:nvSpPr>
        <p:spPr>
          <a:xfrm>
            <a:off x="952500" y="46863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Positive / Negative gain rate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A82A8EE-6D73-4B75-B078-B7ED54E925F9}"/>
              </a:ext>
            </a:extLst>
          </p:cNvPr>
          <p:cNvSpPr>
            <a:spLocks noGrp="1"/>
          </p:cNvSpPr>
          <p:nvPr/>
        </p:nvSpPr>
        <p:spPr>
          <a:xfrm>
            <a:off x="3048000" y="46863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正收益/负收益动作比例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1683CD2-408E-4013-AA8E-82461B3CBEA2}"/>
              </a:ext>
            </a:extLst>
          </p:cNvPr>
          <p:cNvSpPr>
            <a:spLocks noGrp="1"/>
          </p:cNvSpPr>
          <p:nvPr/>
        </p:nvSpPr>
        <p:spPr>
          <a:xfrm>
            <a:off x="6667500" y="468630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衡量部署安全性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F654B75-2A02-40FC-A61B-38573C98C492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2095500" cy="32385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FFFCDDB-07A4-4ED4-8BE4-2CC5A2774E29}"/>
              </a:ext>
            </a:extLst>
          </p:cNvPr>
          <p:cNvSpPr>
            <a:spLocks noGrp="1"/>
          </p:cNvSpPr>
          <p:nvPr/>
        </p:nvSpPr>
        <p:spPr>
          <a:xfrm>
            <a:off x="952500" y="501015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Safe balanced gain score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ED23B53-9753-4441-B30F-B57D154C7AE9}"/>
              </a:ext>
            </a:extLst>
          </p:cNvPr>
          <p:cNvSpPr>
            <a:spLocks noGrp="1"/>
          </p:cNvSpPr>
          <p:nvPr/>
        </p:nvSpPr>
        <p:spPr>
          <a:xfrm>
            <a:off x="2952750" y="4914900"/>
            <a:ext cx="3619500" cy="32385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7442009-BF9B-463A-BE05-81204437761E}"/>
              </a:ext>
            </a:extLst>
          </p:cNvPr>
          <p:cNvSpPr>
            <a:spLocks noGrp="1"/>
          </p:cNvSpPr>
          <p:nvPr/>
        </p:nvSpPr>
        <p:spPr>
          <a:xfrm>
            <a:off x="3048000" y="50101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综合收益与坏动作风险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4EE239B-B91A-4069-8EBD-029E1BEE9BD0}"/>
              </a:ext>
            </a:extLst>
          </p:cNvPr>
          <p:cNvSpPr>
            <a:spLocks noGrp="1"/>
          </p:cNvSpPr>
          <p:nvPr/>
        </p:nvSpPr>
        <p:spPr>
          <a:xfrm>
            <a:off x="6572250" y="4914900"/>
            <a:ext cx="3810000" cy="32385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2E951F1-B6E3-441F-B641-1D102069D962}"/>
              </a:ext>
            </a:extLst>
          </p:cNvPr>
          <p:cNvSpPr>
            <a:spLocks noGrp="1"/>
          </p:cNvSpPr>
          <p:nvPr/>
        </p:nvSpPr>
        <p:spPr>
          <a:xfrm>
            <a:off x="6667500" y="50101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用于 Stay 阈值选择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D6736B3-9C0E-43CE-BE74-BB667B43754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E4347D4-A9A5-4BE3-9431-9A55D03D6429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B701938-00A6-4DAC-853D-922D9166C30F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9919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>
            <a:extLst>
              <a:ext uri="{FF2B5EF4-FFF2-40B4-BE49-F238E27FC236}">
                <a16:creationId xmlns:a16="http://schemas.microsoft.com/office/drawing/2014/main" id="{A0F328A6-2345-48A8-96E2-FA199AA689C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06 EXPERIMENT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0CD129-244B-4586-8ECF-2E7436D1660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主实验结果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DB3FE6-D748-4277-A7FC-1698CEAD0D3F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18668D-067A-4DC4-AA5F-EDD3A0B768B7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Qwen3-VL Full 在 mean gain 与 positive gain rate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上优于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SigLIP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和 No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Qwen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7F8BEB-6725-41A1-BA97-19C8AE2E103D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0F8917C-45DF-4D6F-B56E-9BF7B930B1C4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69532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5859E0-C3C4-431D-8E27-037DD0025E49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1668780" cy="547688"/>
          </a:xfrm>
          <a:prstGeom prst="rect">
            <a:avLst/>
          </a:prstGeom>
          <a:solidFill>
            <a:srgbClr val="182B49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C701FB-6ED6-41D0-93BB-87034A98A8EE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478280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EC9CE2-A03C-4885-9DD7-55E238D473D7}"/>
              </a:ext>
            </a:extLst>
          </p:cNvPr>
          <p:cNvSpPr>
            <a:spLocks noGrp="1"/>
          </p:cNvSpPr>
          <p:nvPr/>
        </p:nvSpPr>
        <p:spPr>
          <a:xfrm>
            <a:off x="2373630" y="1619250"/>
            <a:ext cx="973455" cy="547688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DCADBE-67DF-4ED1-9C9C-5D8BE4F7BDE0}"/>
              </a:ext>
            </a:extLst>
          </p:cNvPr>
          <p:cNvSpPr>
            <a:spLocks noGrp="1"/>
          </p:cNvSpPr>
          <p:nvPr/>
        </p:nvSpPr>
        <p:spPr>
          <a:xfrm>
            <a:off x="2468880" y="1714500"/>
            <a:ext cx="78295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Accuracy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02E44B-A562-4D15-AD52-216BEC5A41B0}"/>
              </a:ext>
            </a:extLst>
          </p:cNvPr>
          <p:cNvSpPr>
            <a:spLocks noGrp="1"/>
          </p:cNvSpPr>
          <p:nvPr/>
        </p:nvSpPr>
        <p:spPr>
          <a:xfrm>
            <a:off x="3347085" y="1619250"/>
            <a:ext cx="973455" cy="547688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B08F0B-1EB5-4AF8-A8B3-C7BF3BDF8B0C}"/>
              </a:ext>
            </a:extLst>
          </p:cNvPr>
          <p:cNvSpPr>
            <a:spLocks noGrp="1"/>
          </p:cNvSpPr>
          <p:nvPr/>
        </p:nvSpPr>
        <p:spPr>
          <a:xfrm>
            <a:off x="3442335" y="1714500"/>
            <a:ext cx="78295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Macro F1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70B4C8-FCF6-4D69-943A-858C63AC523B}"/>
              </a:ext>
            </a:extLst>
          </p:cNvPr>
          <p:cNvSpPr>
            <a:spLocks noGrp="1"/>
          </p:cNvSpPr>
          <p:nvPr/>
        </p:nvSpPr>
        <p:spPr>
          <a:xfrm>
            <a:off x="4320540" y="1619250"/>
            <a:ext cx="1251585" cy="547688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967355-B67F-473A-8FE4-86E8E07EC63D}"/>
              </a:ext>
            </a:extLst>
          </p:cNvPr>
          <p:cNvSpPr>
            <a:spLocks noGrp="1"/>
          </p:cNvSpPr>
          <p:nvPr/>
        </p:nvSpPr>
        <p:spPr>
          <a:xfrm>
            <a:off x="4415790" y="1714500"/>
            <a:ext cx="106108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Mean Gain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C030BD-C308-4A9A-A7EB-E65A7E8209B1}"/>
              </a:ext>
            </a:extLst>
          </p:cNvPr>
          <p:cNvSpPr>
            <a:spLocks noGrp="1"/>
          </p:cNvSpPr>
          <p:nvPr/>
        </p:nvSpPr>
        <p:spPr>
          <a:xfrm>
            <a:off x="5572125" y="1619250"/>
            <a:ext cx="1042988" cy="547688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6C101B-185A-4479-B596-8FCE619862C5}"/>
              </a:ext>
            </a:extLst>
          </p:cNvPr>
          <p:cNvSpPr>
            <a:spLocks noGrp="1"/>
          </p:cNvSpPr>
          <p:nvPr/>
        </p:nvSpPr>
        <p:spPr>
          <a:xfrm>
            <a:off x="5667375" y="1714500"/>
            <a:ext cx="852488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Positive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CE32D9-F267-434B-8E13-DB56570A952C}"/>
              </a:ext>
            </a:extLst>
          </p:cNvPr>
          <p:cNvSpPr>
            <a:spLocks noGrp="1"/>
          </p:cNvSpPr>
          <p:nvPr/>
        </p:nvSpPr>
        <p:spPr>
          <a:xfrm>
            <a:off x="6615113" y="1619250"/>
            <a:ext cx="1042988" cy="547688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7A2D57-DED5-43E7-A975-7BC7DB8A3B98}"/>
              </a:ext>
            </a:extLst>
          </p:cNvPr>
          <p:cNvSpPr>
            <a:spLocks noGrp="1"/>
          </p:cNvSpPr>
          <p:nvPr/>
        </p:nvSpPr>
        <p:spPr>
          <a:xfrm>
            <a:off x="6710363" y="1714500"/>
            <a:ext cx="852488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Negative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3183C8-C6F5-4673-B397-53824E67DD2C}"/>
              </a:ext>
            </a:extLst>
          </p:cNvPr>
          <p:cNvSpPr>
            <a:spLocks noGrp="1"/>
          </p:cNvSpPr>
          <p:nvPr/>
        </p:nvSpPr>
        <p:spPr>
          <a:xfrm>
            <a:off x="800100" y="2262188"/>
            <a:ext cx="1478280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No Qwen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EE5886B-C67F-4F0B-93BC-61B6761C7F4D}"/>
              </a:ext>
            </a:extLst>
          </p:cNvPr>
          <p:cNvSpPr>
            <a:spLocks noGrp="1"/>
          </p:cNvSpPr>
          <p:nvPr/>
        </p:nvSpPr>
        <p:spPr>
          <a:xfrm>
            <a:off x="2468880" y="2262188"/>
            <a:ext cx="78295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0.1912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EF09D0-F7A0-499E-81A8-FA7716E5F3ED}"/>
              </a:ext>
            </a:extLst>
          </p:cNvPr>
          <p:cNvSpPr>
            <a:spLocks noGrp="1"/>
          </p:cNvSpPr>
          <p:nvPr/>
        </p:nvSpPr>
        <p:spPr>
          <a:xfrm>
            <a:off x="3442335" y="2262188"/>
            <a:ext cx="78295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0.0625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A53EE7-3656-465E-9CD0-69F652CD15AA}"/>
              </a:ext>
            </a:extLst>
          </p:cNvPr>
          <p:cNvSpPr>
            <a:spLocks noGrp="1"/>
          </p:cNvSpPr>
          <p:nvPr/>
        </p:nvSpPr>
        <p:spPr>
          <a:xfrm>
            <a:off x="4415790" y="2262188"/>
            <a:ext cx="106108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776.45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8E8D197-6DA4-4CFE-930B-AA99B03222D5}"/>
              </a:ext>
            </a:extLst>
          </p:cNvPr>
          <p:cNvSpPr>
            <a:spLocks noGrp="1"/>
          </p:cNvSpPr>
          <p:nvPr/>
        </p:nvSpPr>
        <p:spPr>
          <a:xfrm>
            <a:off x="5667375" y="2262188"/>
            <a:ext cx="852488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0.5652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E3DCCBF-E91C-4234-BAAB-B31F58F0240C}"/>
              </a:ext>
            </a:extLst>
          </p:cNvPr>
          <p:cNvSpPr>
            <a:spLocks noGrp="1"/>
          </p:cNvSpPr>
          <p:nvPr/>
        </p:nvSpPr>
        <p:spPr>
          <a:xfrm>
            <a:off x="6710363" y="2262188"/>
            <a:ext cx="852488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0.4284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02AC57-CE1A-4EC1-A349-41FE4DED3369}"/>
              </a:ext>
            </a:extLst>
          </p:cNvPr>
          <p:cNvSpPr>
            <a:spLocks noGrp="1"/>
          </p:cNvSpPr>
          <p:nvPr/>
        </p:nvSpPr>
        <p:spPr>
          <a:xfrm>
            <a:off x="704850" y="2714625"/>
            <a:ext cx="1668780" cy="54768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7A0EC2-CA91-42C1-9D32-C9FA04340733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1478280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SigLIP Full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8400D20-2219-4AAD-B0DE-029F3ABDA446}"/>
              </a:ext>
            </a:extLst>
          </p:cNvPr>
          <p:cNvSpPr>
            <a:spLocks noGrp="1"/>
          </p:cNvSpPr>
          <p:nvPr/>
        </p:nvSpPr>
        <p:spPr>
          <a:xfrm>
            <a:off x="2373630" y="2714625"/>
            <a:ext cx="973455" cy="54768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0B18E6-BEA5-4636-BCB8-E1C5B5A82165}"/>
              </a:ext>
            </a:extLst>
          </p:cNvPr>
          <p:cNvSpPr>
            <a:spLocks noGrp="1"/>
          </p:cNvSpPr>
          <p:nvPr/>
        </p:nvSpPr>
        <p:spPr>
          <a:xfrm>
            <a:off x="2468880" y="2809875"/>
            <a:ext cx="78295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0.4190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A4D462-EE73-4494-A933-6C03773A4B0B}"/>
              </a:ext>
            </a:extLst>
          </p:cNvPr>
          <p:cNvSpPr>
            <a:spLocks noGrp="1"/>
          </p:cNvSpPr>
          <p:nvPr/>
        </p:nvSpPr>
        <p:spPr>
          <a:xfrm>
            <a:off x="3347085" y="2714625"/>
            <a:ext cx="973455" cy="54768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1614E1-7D76-4D9B-8446-6EFB81D93873}"/>
              </a:ext>
            </a:extLst>
          </p:cNvPr>
          <p:cNvSpPr>
            <a:spLocks noGrp="1"/>
          </p:cNvSpPr>
          <p:nvPr/>
        </p:nvSpPr>
        <p:spPr>
          <a:xfrm>
            <a:off x="3442335" y="2809875"/>
            <a:ext cx="78295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0.2886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D734810-4EA0-472C-967A-6CDABBC6E171}"/>
              </a:ext>
            </a:extLst>
          </p:cNvPr>
          <p:cNvSpPr>
            <a:spLocks noGrp="1"/>
          </p:cNvSpPr>
          <p:nvPr/>
        </p:nvSpPr>
        <p:spPr>
          <a:xfrm>
            <a:off x="4320540" y="2714625"/>
            <a:ext cx="1251585" cy="54768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1282A72-C570-4F87-8759-7700D3AE7B80}"/>
              </a:ext>
            </a:extLst>
          </p:cNvPr>
          <p:cNvSpPr>
            <a:spLocks noGrp="1"/>
          </p:cNvSpPr>
          <p:nvPr/>
        </p:nvSpPr>
        <p:spPr>
          <a:xfrm>
            <a:off x="4415790" y="2809875"/>
            <a:ext cx="106108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1479.99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6513908-9DC7-4886-8FEA-AF2BC9947E8D}"/>
              </a:ext>
            </a:extLst>
          </p:cNvPr>
          <p:cNvSpPr>
            <a:spLocks noGrp="1"/>
          </p:cNvSpPr>
          <p:nvPr/>
        </p:nvSpPr>
        <p:spPr>
          <a:xfrm>
            <a:off x="5572125" y="2714625"/>
            <a:ext cx="1042988" cy="54768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0325AF-3A1A-4299-8ED3-059249351E42}"/>
              </a:ext>
            </a:extLst>
          </p:cNvPr>
          <p:cNvSpPr>
            <a:spLocks noGrp="1"/>
          </p:cNvSpPr>
          <p:nvPr/>
        </p:nvSpPr>
        <p:spPr>
          <a:xfrm>
            <a:off x="5667375" y="2809875"/>
            <a:ext cx="852488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0.6352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05D5646-499E-4BF9-BF87-F7B3F6F8EFD5}"/>
              </a:ext>
            </a:extLst>
          </p:cNvPr>
          <p:cNvSpPr>
            <a:spLocks noGrp="1"/>
          </p:cNvSpPr>
          <p:nvPr/>
        </p:nvSpPr>
        <p:spPr>
          <a:xfrm>
            <a:off x="6615113" y="2714625"/>
            <a:ext cx="1042988" cy="547688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1E158E2-F8F6-4B4B-B76B-6579A3A12F3D}"/>
              </a:ext>
            </a:extLst>
          </p:cNvPr>
          <p:cNvSpPr>
            <a:spLocks noGrp="1"/>
          </p:cNvSpPr>
          <p:nvPr/>
        </p:nvSpPr>
        <p:spPr>
          <a:xfrm>
            <a:off x="6710363" y="2809875"/>
            <a:ext cx="852488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0.3256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276341F-0A81-4D67-B2B5-AC619C58A8D8}"/>
              </a:ext>
            </a:extLst>
          </p:cNvPr>
          <p:cNvSpPr>
            <a:spLocks noGrp="1"/>
          </p:cNvSpPr>
          <p:nvPr/>
        </p:nvSpPr>
        <p:spPr>
          <a:xfrm>
            <a:off x="704850" y="3262313"/>
            <a:ext cx="1668780" cy="547688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0088C52-2E18-4E8D-B1B1-9720B48F34A6}"/>
              </a:ext>
            </a:extLst>
          </p:cNvPr>
          <p:cNvSpPr>
            <a:spLocks noGrp="1"/>
          </p:cNvSpPr>
          <p:nvPr/>
        </p:nvSpPr>
        <p:spPr>
          <a:xfrm>
            <a:off x="800100" y="3357563"/>
            <a:ext cx="1478280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Qwen3-VL Full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A051A4B-8E92-439D-97EB-88588F8DA3C3}"/>
              </a:ext>
            </a:extLst>
          </p:cNvPr>
          <p:cNvSpPr>
            <a:spLocks noGrp="1"/>
          </p:cNvSpPr>
          <p:nvPr/>
        </p:nvSpPr>
        <p:spPr>
          <a:xfrm>
            <a:off x="2373630" y="3262313"/>
            <a:ext cx="973455" cy="547688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4719C0D-E316-42D1-BF1B-74B83FAB7FCA}"/>
              </a:ext>
            </a:extLst>
          </p:cNvPr>
          <p:cNvSpPr>
            <a:spLocks noGrp="1"/>
          </p:cNvSpPr>
          <p:nvPr/>
        </p:nvSpPr>
        <p:spPr>
          <a:xfrm>
            <a:off x="2468880" y="3357563"/>
            <a:ext cx="78295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0.4560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531AE6-37F3-4C1C-BFC8-310650BACEA1}"/>
              </a:ext>
            </a:extLst>
          </p:cNvPr>
          <p:cNvSpPr>
            <a:spLocks noGrp="1"/>
          </p:cNvSpPr>
          <p:nvPr/>
        </p:nvSpPr>
        <p:spPr>
          <a:xfrm>
            <a:off x="3347085" y="3262313"/>
            <a:ext cx="973455" cy="547688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92F2B2F-EF3A-4D6F-92E6-549DA8F1B072}"/>
              </a:ext>
            </a:extLst>
          </p:cNvPr>
          <p:cNvSpPr>
            <a:spLocks noGrp="1"/>
          </p:cNvSpPr>
          <p:nvPr/>
        </p:nvSpPr>
        <p:spPr>
          <a:xfrm>
            <a:off x="3442335" y="3357563"/>
            <a:ext cx="78295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0.3320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3D53AF3-0968-4A5D-8770-D04039648F02}"/>
              </a:ext>
            </a:extLst>
          </p:cNvPr>
          <p:cNvSpPr>
            <a:spLocks noGrp="1"/>
          </p:cNvSpPr>
          <p:nvPr/>
        </p:nvSpPr>
        <p:spPr>
          <a:xfrm>
            <a:off x="4320540" y="3262313"/>
            <a:ext cx="1251585" cy="547688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076A56-8926-4FAD-A296-3E8C06B574A6}"/>
              </a:ext>
            </a:extLst>
          </p:cNvPr>
          <p:cNvSpPr>
            <a:spLocks noGrp="1"/>
          </p:cNvSpPr>
          <p:nvPr/>
        </p:nvSpPr>
        <p:spPr>
          <a:xfrm>
            <a:off x="4415790" y="3357563"/>
            <a:ext cx="1061085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1777.62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0763897-CB78-4A2A-BCB9-B6653C3B69FD}"/>
              </a:ext>
            </a:extLst>
          </p:cNvPr>
          <p:cNvSpPr>
            <a:spLocks noGrp="1"/>
          </p:cNvSpPr>
          <p:nvPr/>
        </p:nvSpPr>
        <p:spPr>
          <a:xfrm>
            <a:off x="5572125" y="3262313"/>
            <a:ext cx="1042988" cy="547688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1A8E9AC-7228-4D24-AF51-5AF0C93EBF04}"/>
              </a:ext>
            </a:extLst>
          </p:cNvPr>
          <p:cNvSpPr>
            <a:spLocks noGrp="1"/>
          </p:cNvSpPr>
          <p:nvPr/>
        </p:nvSpPr>
        <p:spPr>
          <a:xfrm>
            <a:off x="5667375" y="3357563"/>
            <a:ext cx="852488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rPr>
              <a:t>0.6790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94E1BCA-CF11-408E-A035-4A34DBD62F6B}"/>
              </a:ext>
            </a:extLst>
          </p:cNvPr>
          <p:cNvSpPr>
            <a:spLocks noGrp="1"/>
          </p:cNvSpPr>
          <p:nvPr/>
        </p:nvSpPr>
        <p:spPr>
          <a:xfrm>
            <a:off x="6615113" y="3262313"/>
            <a:ext cx="1042988" cy="547688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689CF23-79C5-4AD4-B326-F5DE49A1D68F}"/>
              </a:ext>
            </a:extLst>
          </p:cNvPr>
          <p:cNvSpPr>
            <a:spLocks noGrp="1"/>
          </p:cNvSpPr>
          <p:nvPr/>
        </p:nvSpPr>
        <p:spPr>
          <a:xfrm>
            <a:off x="6710363" y="3357563"/>
            <a:ext cx="852488" cy="3952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rPr>
              <a:t>0.2960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4589C4E-C97E-41C7-B126-F0874BCD2BEA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1432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63258CA-2E9D-4028-A414-B4973904B43D}"/>
              </a:ext>
            </a:extLst>
          </p:cNvPr>
          <p:cNvSpPr>
            <a:spLocks noGrp="1"/>
          </p:cNvSpPr>
          <p:nvPr/>
        </p:nvSpPr>
        <p:spPr>
          <a:xfrm>
            <a:off x="8324850" y="1695450"/>
            <a:ext cx="2686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Mean Gain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AD39366-3650-48A7-8554-65540441C21B}"/>
              </a:ext>
            </a:extLst>
          </p:cNvPr>
          <p:cNvSpPr>
            <a:spLocks noGrp="1"/>
          </p:cNvSpPr>
          <p:nvPr/>
        </p:nvSpPr>
        <p:spPr>
          <a:xfrm>
            <a:off x="8324850" y="218122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No Qwen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346800C-D30F-4423-8F10-E6F1456815F0}"/>
              </a:ext>
            </a:extLst>
          </p:cNvPr>
          <p:cNvSpPr>
            <a:spLocks noGrp="1"/>
          </p:cNvSpPr>
          <p:nvPr/>
        </p:nvSpPr>
        <p:spPr>
          <a:xfrm>
            <a:off x="9525000" y="2190750"/>
            <a:ext cx="1143000" cy="171450"/>
          </a:xfrm>
          <a:prstGeom prst="rect">
            <a:avLst/>
          </a:prstGeom>
          <a:solidFill>
            <a:srgbClr val="ECF2F8"/>
          </a:solidFill>
          <a:ln w="0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A29B4F1-8F03-41D1-9EFA-53BC5A11AC29}"/>
              </a:ext>
            </a:extLst>
          </p:cNvPr>
          <p:cNvSpPr>
            <a:spLocks noGrp="1"/>
          </p:cNvSpPr>
          <p:nvPr/>
        </p:nvSpPr>
        <p:spPr>
          <a:xfrm>
            <a:off x="9525000" y="2190750"/>
            <a:ext cx="492760" cy="171450"/>
          </a:xfrm>
          <a:prstGeom prst="rect">
            <a:avLst/>
          </a:prstGeom>
          <a:solidFill>
            <a:srgbClr val="F05252"/>
          </a:solidFill>
          <a:ln w="0"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9FF6BCE-0E58-44BA-9FBC-08D0C7077FDA}"/>
              </a:ext>
            </a:extLst>
          </p:cNvPr>
          <p:cNvSpPr>
            <a:spLocks noGrp="1"/>
          </p:cNvSpPr>
          <p:nvPr/>
        </p:nvSpPr>
        <p:spPr>
          <a:xfrm>
            <a:off x="10782300" y="21621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776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8A31C0C-9362-40A8-844B-3AC19625A9C4}"/>
              </a:ext>
            </a:extLst>
          </p:cNvPr>
          <p:cNvSpPr>
            <a:spLocks noGrp="1"/>
          </p:cNvSpPr>
          <p:nvPr/>
        </p:nvSpPr>
        <p:spPr>
          <a:xfrm>
            <a:off x="8324850" y="258127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SigLIP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A023107-6FFB-4B09-A148-7BFC14F823CF}"/>
              </a:ext>
            </a:extLst>
          </p:cNvPr>
          <p:cNvSpPr>
            <a:spLocks noGrp="1"/>
          </p:cNvSpPr>
          <p:nvPr/>
        </p:nvSpPr>
        <p:spPr>
          <a:xfrm>
            <a:off x="9525000" y="2590800"/>
            <a:ext cx="1143000" cy="171450"/>
          </a:xfrm>
          <a:prstGeom prst="rect">
            <a:avLst/>
          </a:prstGeom>
          <a:solidFill>
            <a:srgbClr val="ECF2F8"/>
          </a:solidFill>
          <a:ln w="0"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54068D5-C285-4B1D-A447-4CDE3AE6ED44}"/>
              </a:ext>
            </a:extLst>
          </p:cNvPr>
          <p:cNvSpPr>
            <a:spLocks noGrp="1"/>
          </p:cNvSpPr>
          <p:nvPr/>
        </p:nvSpPr>
        <p:spPr>
          <a:xfrm>
            <a:off x="9525000" y="2590800"/>
            <a:ext cx="939800" cy="1714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E152CA9-B940-4252-9150-6191325F7100}"/>
              </a:ext>
            </a:extLst>
          </p:cNvPr>
          <p:cNvSpPr>
            <a:spLocks noGrp="1"/>
          </p:cNvSpPr>
          <p:nvPr/>
        </p:nvSpPr>
        <p:spPr>
          <a:xfrm>
            <a:off x="10782300" y="25622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1480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43C75A5-622F-43B2-9812-AC61759964B5}"/>
              </a:ext>
            </a:extLst>
          </p:cNvPr>
          <p:cNvSpPr>
            <a:spLocks noGrp="1"/>
          </p:cNvSpPr>
          <p:nvPr/>
        </p:nvSpPr>
        <p:spPr>
          <a:xfrm>
            <a:off x="8324850" y="2981325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Qwen3-VL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E278E70-0603-4943-BDD3-6AB52EB44A9A}"/>
              </a:ext>
            </a:extLst>
          </p:cNvPr>
          <p:cNvSpPr>
            <a:spLocks noGrp="1"/>
          </p:cNvSpPr>
          <p:nvPr/>
        </p:nvSpPr>
        <p:spPr>
          <a:xfrm>
            <a:off x="9525000" y="2990850"/>
            <a:ext cx="1143000" cy="171450"/>
          </a:xfrm>
          <a:prstGeom prst="rect">
            <a:avLst/>
          </a:prstGeom>
          <a:solidFill>
            <a:srgbClr val="ECF2F8"/>
          </a:solidFill>
          <a:ln w="0"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154347A-46F3-4023-A0CE-77216BD05CD1}"/>
              </a:ext>
            </a:extLst>
          </p:cNvPr>
          <p:cNvSpPr>
            <a:spLocks noGrp="1"/>
          </p:cNvSpPr>
          <p:nvPr/>
        </p:nvSpPr>
        <p:spPr>
          <a:xfrm>
            <a:off x="9525000" y="2990850"/>
            <a:ext cx="1129030" cy="1714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DE21FD8-1A4B-4670-AE3A-176E9ADD95A8}"/>
              </a:ext>
            </a:extLst>
          </p:cNvPr>
          <p:cNvSpPr>
            <a:spLocks noGrp="1"/>
          </p:cNvSpPr>
          <p:nvPr/>
        </p:nvSpPr>
        <p:spPr>
          <a:xfrm>
            <a:off x="10782300" y="29622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1778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D2E8832D-CF9F-4FA2-921D-DF884BD5A670}"/>
              </a:ext>
            </a:extLst>
          </p:cNvPr>
          <p:cNvSpPr>
            <a:spLocks noGrp="1"/>
          </p:cNvSpPr>
          <p:nvPr/>
        </p:nvSpPr>
        <p:spPr>
          <a:xfrm>
            <a:off x="857250" y="4333875"/>
            <a:ext cx="3000375" cy="1095375"/>
          </a:xfrm>
          <a:prstGeom prst="roundRect">
            <a:avLst>
              <a:gd name="adj" fmla="val 10435"/>
            </a:avLst>
          </a:prstGeom>
          <a:solidFill>
            <a:srgbClr val="E4F7FC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8DE1EEE-A583-499A-9C31-4349701AB2B0}"/>
              </a:ext>
            </a:extLst>
          </p:cNvPr>
          <p:cNvSpPr>
            <a:spLocks noGrp="1"/>
          </p:cNvSpPr>
          <p:nvPr/>
        </p:nvSpPr>
        <p:spPr>
          <a:xfrm>
            <a:off x="1028700" y="4505325"/>
            <a:ext cx="57150" cy="4000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87A96AF-06A0-47F8-A89C-316A17774E06}"/>
              </a:ext>
            </a:extLst>
          </p:cNvPr>
          <p:cNvSpPr>
            <a:spLocks noGrp="1"/>
          </p:cNvSpPr>
          <p:nvPr/>
        </p:nvSpPr>
        <p:spPr>
          <a:xfrm>
            <a:off x="1143000" y="4441825"/>
            <a:ext cx="2505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语义特征是关键</a:t>
            </a:r>
            <a:endParaRPr sz="1350" b="1" dirty="0">
              <a:solidFill>
                <a:srgbClr val="1020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C34A973-D454-42E1-A523-1A19E41391B3}"/>
              </a:ext>
            </a:extLst>
          </p:cNvPr>
          <p:cNvSpPr>
            <a:spLocks noGrp="1"/>
          </p:cNvSpPr>
          <p:nvPr/>
        </p:nvSpPr>
        <p:spPr>
          <a:xfrm>
            <a:off x="1216342" y="4691062"/>
            <a:ext cx="25050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No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Qwen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大幅下降，说明仅靠深度和位姿难以知道“应该看哪个目标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”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B8B66961-2982-4066-B595-5EC7A37851C3}"/>
              </a:ext>
            </a:extLst>
          </p:cNvPr>
          <p:cNvSpPr>
            <a:spLocks noGrp="1"/>
          </p:cNvSpPr>
          <p:nvPr/>
        </p:nvSpPr>
        <p:spPr>
          <a:xfrm>
            <a:off x="4333875" y="4333875"/>
            <a:ext cx="3000375" cy="1095375"/>
          </a:xfrm>
          <a:prstGeom prst="roundRect">
            <a:avLst>
              <a:gd name="adj" fmla="val 10435"/>
            </a:avLst>
          </a:prstGeom>
          <a:solidFill>
            <a:srgbClr val="EEEFFE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4BA69E4-E265-410D-88B6-D5505300C7EC}"/>
              </a:ext>
            </a:extLst>
          </p:cNvPr>
          <p:cNvSpPr>
            <a:spLocks noGrp="1"/>
          </p:cNvSpPr>
          <p:nvPr/>
        </p:nvSpPr>
        <p:spPr>
          <a:xfrm>
            <a:off x="4505325" y="4505325"/>
            <a:ext cx="57150" cy="40005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50B7377-717A-4995-852E-51ABF8CE915C}"/>
              </a:ext>
            </a:extLst>
          </p:cNvPr>
          <p:cNvSpPr>
            <a:spLocks noGrp="1"/>
          </p:cNvSpPr>
          <p:nvPr/>
        </p:nvSpPr>
        <p:spPr>
          <a:xfrm>
            <a:off x="4619625" y="4441825"/>
            <a:ext cx="2505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Qwen 优于 SigLIP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8AB91EB-BC67-4F02-9CCE-7E6C3E9671FD}"/>
              </a:ext>
            </a:extLst>
          </p:cNvPr>
          <p:cNvSpPr>
            <a:spLocks noGrp="1"/>
          </p:cNvSpPr>
          <p:nvPr/>
        </p:nvSpPr>
        <p:spPr>
          <a:xfrm>
            <a:off x="4692967" y="4691062"/>
            <a:ext cx="25050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Qwen3-VL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的多模态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hidden state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对目标语义和图文上下文表达更强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DB021F5D-B911-4575-93DA-BCE64C5DCB65}"/>
              </a:ext>
            </a:extLst>
          </p:cNvPr>
          <p:cNvSpPr>
            <a:spLocks noGrp="1"/>
          </p:cNvSpPr>
          <p:nvPr/>
        </p:nvSpPr>
        <p:spPr>
          <a:xfrm>
            <a:off x="7810500" y="4333875"/>
            <a:ext cx="3000375" cy="1095375"/>
          </a:xfrm>
          <a:prstGeom prst="roundRect">
            <a:avLst>
              <a:gd name="adj" fmla="val 10435"/>
            </a:avLst>
          </a:prstGeom>
          <a:solidFill>
            <a:srgbClr val="E5FAF1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DDB1263-677F-4469-BF80-B5B8DF750208}"/>
              </a:ext>
            </a:extLst>
          </p:cNvPr>
          <p:cNvSpPr>
            <a:spLocks noGrp="1"/>
          </p:cNvSpPr>
          <p:nvPr/>
        </p:nvSpPr>
        <p:spPr>
          <a:xfrm>
            <a:off x="7981950" y="4505325"/>
            <a:ext cx="57150" cy="400050"/>
          </a:xfrm>
          <a:prstGeom prst="rect">
            <a:avLst/>
          </a:prstGeom>
          <a:solidFill>
            <a:srgbClr val="2CCB8E"/>
          </a:solidFill>
          <a:ln w="0"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E41ECDD-4D4E-463B-9123-85F4CEE66CDB}"/>
              </a:ext>
            </a:extLst>
          </p:cNvPr>
          <p:cNvSpPr>
            <a:spLocks noGrp="1"/>
          </p:cNvSpPr>
          <p:nvPr/>
        </p:nvSpPr>
        <p:spPr>
          <a:xfrm>
            <a:off x="8096250" y="4441825"/>
            <a:ext cx="2505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负收益更少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B44F7CD-14E0-4375-AE73-4648C30B524E}"/>
              </a:ext>
            </a:extLst>
          </p:cNvPr>
          <p:cNvSpPr>
            <a:spLocks noGrp="1"/>
          </p:cNvSpPr>
          <p:nvPr/>
        </p:nvSpPr>
        <p:spPr>
          <a:xfrm>
            <a:off x="8169592" y="4691062"/>
            <a:ext cx="25050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Full 的 negative gain rate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降至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0.296，相机移动更安全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2A89169-4374-4BD2-AA2C-13DE1B225BE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34E3585-F2B3-45FD-92C0-E4AE0BF78486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B07F665-7DB8-4A7B-BE7B-47EA7BB47960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5343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D2701CB-C588-4583-8140-0F63DBF18F3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06 EXPERIMENT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2A847B-6E55-4A7A-B585-77BF254EAD9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消融实验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6BA363-9B5B-4A76-9D70-6156C65B2B76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5C946C-20FB-4216-A247-AEEF0D3E9F0C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Qwen3-VL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是主导因素，深度图和位姿进一步减少坏动作并提升收益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8E225A-A45A-445D-A8CF-FB4128BB24A8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7327" y="2430509"/>
            <a:ext cx="6290322" cy="2327182"/>
          </a:xfrm>
          <a:prstGeom prst="roundRect">
            <a:avLst>
              <a:gd name="adj" fmla="val 2051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A168B3E8-DB27-4F9A-9EBD-8F22B5BD32B9}"/>
              </a:ext>
            </a:extLst>
          </p:cNvPr>
          <p:cNvSpPr>
            <a:spLocks noGrp="1"/>
          </p:cNvSpPr>
          <p:nvPr/>
        </p:nvSpPr>
        <p:spPr>
          <a:xfrm>
            <a:off x="6800850" y="1727200"/>
            <a:ext cx="476250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F69408-B1F1-45EC-AAA9-3F8D47837F70}"/>
              </a:ext>
            </a:extLst>
          </p:cNvPr>
          <p:cNvSpPr>
            <a:spLocks noGrp="1"/>
          </p:cNvSpPr>
          <p:nvPr/>
        </p:nvSpPr>
        <p:spPr>
          <a:xfrm>
            <a:off x="6800850" y="1727200"/>
            <a:ext cx="1333500" cy="373380"/>
          </a:xfrm>
          <a:prstGeom prst="rect">
            <a:avLst/>
          </a:prstGeom>
          <a:solidFill>
            <a:srgbClr val="182B49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9D7D96-01F1-4AC8-9749-4D1C1E14B991}"/>
              </a:ext>
            </a:extLst>
          </p:cNvPr>
          <p:cNvSpPr>
            <a:spLocks noGrp="1"/>
          </p:cNvSpPr>
          <p:nvPr/>
        </p:nvSpPr>
        <p:spPr>
          <a:xfrm>
            <a:off x="6896100" y="1822450"/>
            <a:ext cx="11430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Model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D8D5E1-B6D8-453D-8E7D-F237D92D5F19}"/>
              </a:ext>
            </a:extLst>
          </p:cNvPr>
          <p:cNvSpPr>
            <a:spLocks noGrp="1"/>
          </p:cNvSpPr>
          <p:nvPr/>
        </p:nvSpPr>
        <p:spPr>
          <a:xfrm>
            <a:off x="8134350" y="1727200"/>
            <a:ext cx="1143000" cy="37338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2D017E-8C00-4E33-ADFA-74BD77B6FFFE}"/>
              </a:ext>
            </a:extLst>
          </p:cNvPr>
          <p:cNvSpPr>
            <a:spLocks noGrp="1"/>
          </p:cNvSpPr>
          <p:nvPr/>
        </p:nvSpPr>
        <p:spPr>
          <a:xfrm>
            <a:off x="8229600" y="182245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Mean Gain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BDC276-2B38-47EE-9053-BD432511FDCD}"/>
              </a:ext>
            </a:extLst>
          </p:cNvPr>
          <p:cNvSpPr>
            <a:spLocks noGrp="1"/>
          </p:cNvSpPr>
          <p:nvPr/>
        </p:nvSpPr>
        <p:spPr>
          <a:xfrm>
            <a:off x="9277350" y="1727200"/>
            <a:ext cx="1143000" cy="37338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501363-82F1-4B3F-BCFC-86EEF9DF87B7}"/>
              </a:ext>
            </a:extLst>
          </p:cNvPr>
          <p:cNvSpPr>
            <a:spLocks noGrp="1"/>
          </p:cNvSpPr>
          <p:nvPr/>
        </p:nvSpPr>
        <p:spPr>
          <a:xfrm>
            <a:off x="9372600" y="182245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Positive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BA37D8-6CF5-48C5-89FD-28252C50A920}"/>
              </a:ext>
            </a:extLst>
          </p:cNvPr>
          <p:cNvSpPr>
            <a:spLocks noGrp="1"/>
          </p:cNvSpPr>
          <p:nvPr/>
        </p:nvSpPr>
        <p:spPr>
          <a:xfrm>
            <a:off x="10420350" y="1727200"/>
            <a:ext cx="1143000" cy="37338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703423-7855-4634-87C5-CBBC3C5BD502}"/>
              </a:ext>
            </a:extLst>
          </p:cNvPr>
          <p:cNvSpPr>
            <a:spLocks noGrp="1"/>
          </p:cNvSpPr>
          <p:nvPr/>
        </p:nvSpPr>
        <p:spPr>
          <a:xfrm>
            <a:off x="10515600" y="182245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Negative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AFEA2A-2226-43E6-9753-EA07F7BB3D97}"/>
              </a:ext>
            </a:extLst>
          </p:cNvPr>
          <p:cNvSpPr>
            <a:spLocks noGrp="1"/>
          </p:cNvSpPr>
          <p:nvPr/>
        </p:nvSpPr>
        <p:spPr>
          <a:xfrm>
            <a:off x="6800850" y="2100580"/>
            <a:ext cx="1333500" cy="373380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077CEE-0DEB-457F-A3C6-076C189A74BD}"/>
              </a:ext>
            </a:extLst>
          </p:cNvPr>
          <p:cNvSpPr>
            <a:spLocks noGrp="1"/>
          </p:cNvSpPr>
          <p:nvPr/>
        </p:nvSpPr>
        <p:spPr>
          <a:xfrm>
            <a:off x="6896100" y="2195830"/>
            <a:ext cx="11430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Full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BFB37A-3228-4631-865D-80BC80EBC2A2}"/>
              </a:ext>
            </a:extLst>
          </p:cNvPr>
          <p:cNvSpPr>
            <a:spLocks noGrp="1"/>
          </p:cNvSpPr>
          <p:nvPr/>
        </p:nvSpPr>
        <p:spPr>
          <a:xfrm>
            <a:off x="8134350" y="2100580"/>
            <a:ext cx="1143000" cy="373380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7AD9C2-15D1-4876-B2E4-0C35AF0FE052}"/>
              </a:ext>
            </a:extLst>
          </p:cNvPr>
          <p:cNvSpPr>
            <a:spLocks noGrp="1"/>
          </p:cNvSpPr>
          <p:nvPr/>
        </p:nvSpPr>
        <p:spPr>
          <a:xfrm>
            <a:off x="8229600" y="219583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1777.62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96B7A2-EA75-4BAE-98C1-B1B46A9F3CAA}"/>
              </a:ext>
            </a:extLst>
          </p:cNvPr>
          <p:cNvSpPr>
            <a:spLocks noGrp="1"/>
          </p:cNvSpPr>
          <p:nvPr/>
        </p:nvSpPr>
        <p:spPr>
          <a:xfrm>
            <a:off x="9277350" y="2100580"/>
            <a:ext cx="1143000" cy="373380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57F9BB-F3F7-4BF9-8538-EE043E1C7206}"/>
              </a:ext>
            </a:extLst>
          </p:cNvPr>
          <p:cNvSpPr>
            <a:spLocks noGrp="1"/>
          </p:cNvSpPr>
          <p:nvPr/>
        </p:nvSpPr>
        <p:spPr>
          <a:xfrm>
            <a:off x="9372600" y="219583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rPr>
              <a:t>0.6790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468F4B-A75D-4C04-9517-AEBDE8AED92E}"/>
              </a:ext>
            </a:extLst>
          </p:cNvPr>
          <p:cNvSpPr>
            <a:spLocks noGrp="1"/>
          </p:cNvSpPr>
          <p:nvPr/>
        </p:nvSpPr>
        <p:spPr>
          <a:xfrm>
            <a:off x="10420350" y="2100580"/>
            <a:ext cx="1143000" cy="373380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4E3E01-DE10-44E9-842C-38EC2EFE283B}"/>
              </a:ext>
            </a:extLst>
          </p:cNvPr>
          <p:cNvSpPr>
            <a:spLocks noGrp="1"/>
          </p:cNvSpPr>
          <p:nvPr/>
        </p:nvSpPr>
        <p:spPr>
          <a:xfrm>
            <a:off x="10515600" y="219583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rPr>
              <a:t>0.2960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C95D88B-FB4B-4697-A818-7DD007E94799}"/>
              </a:ext>
            </a:extLst>
          </p:cNvPr>
          <p:cNvSpPr>
            <a:spLocks noGrp="1"/>
          </p:cNvSpPr>
          <p:nvPr/>
        </p:nvSpPr>
        <p:spPr>
          <a:xfrm>
            <a:off x="6800850" y="2473960"/>
            <a:ext cx="1333500" cy="37338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B1E795-5E7C-48CD-8118-9C2E4CFED8C0}"/>
              </a:ext>
            </a:extLst>
          </p:cNvPr>
          <p:cNvSpPr>
            <a:spLocks noGrp="1"/>
          </p:cNvSpPr>
          <p:nvPr/>
        </p:nvSpPr>
        <p:spPr>
          <a:xfrm>
            <a:off x="6896100" y="2569210"/>
            <a:ext cx="11430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No Depth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5EA67E5-7F6E-46F7-B66C-DB4D69B132EF}"/>
              </a:ext>
            </a:extLst>
          </p:cNvPr>
          <p:cNvSpPr>
            <a:spLocks noGrp="1"/>
          </p:cNvSpPr>
          <p:nvPr/>
        </p:nvSpPr>
        <p:spPr>
          <a:xfrm>
            <a:off x="8134350" y="2473960"/>
            <a:ext cx="1143000" cy="37338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CA14C75-84CD-44F4-A8A3-5750D9A2F57D}"/>
              </a:ext>
            </a:extLst>
          </p:cNvPr>
          <p:cNvSpPr>
            <a:spLocks noGrp="1"/>
          </p:cNvSpPr>
          <p:nvPr/>
        </p:nvSpPr>
        <p:spPr>
          <a:xfrm>
            <a:off x="8229600" y="256921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1659.26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472835-D4FE-4D90-A18B-7AC08C923157}"/>
              </a:ext>
            </a:extLst>
          </p:cNvPr>
          <p:cNvSpPr>
            <a:spLocks noGrp="1"/>
          </p:cNvSpPr>
          <p:nvPr/>
        </p:nvSpPr>
        <p:spPr>
          <a:xfrm>
            <a:off x="9277350" y="2473960"/>
            <a:ext cx="1143000" cy="37338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052B0E-C495-4F25-BC63-ECDDFBE0BC71}"/>
              </a:ext>
            </a:extLst>
          </p:cNvPr>
          <p:cNvSpPr>
            <a:spLocks noGrp="1"/>
          </p:cNvSpPr>
          <p:nvPr/>
        </p:nvSpPr>
        <p:spPr>
          <a:xfrm>
            <a:off x="9372600" y="256921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0.6640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CBFB91E-83E7-4CD8-8F3D-487F452428C1}"/>
              </a:ext>
            </a:extLst>
          </p:cNvPr>
          <p:cNvSpPr>
            <a:spLocks noGrp="1"/>
          </p:cNvSpPr>
          <p:nvPr/>
        </p:nvSpPr>
        <p:spPr>
          <a:xfrm>
            <a:off x="10420350" y="2473960"/>
            <a:ext cx="1143000" cy="37338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744268-3A7C-4580-870A-A0AC90F02754}"/>
              </a:ext>
            </a:extLst>
          </p:cNvPr>
          <p:cNvSpPr>
            <a:spLocks noGrp="1"/>
          </p:cNvSpPr>
          <p:nvPr/>
        </p:nvSpPr>
        <p:spPr>
          <a:xfrm>
            <a:off x="10515600" y="256921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0.3120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38763CA-E6A8-4A2D-B3C0-1A7212C9753E}"/>
              </a:ext>
            </a:extLst>
          </p:cNvPr>
          <p:cNvSpPr>
            <a:spLocks noGrp="1"/>
          </p:cNvSpPr>
          <p:nvPr/>
        </p:nvSpPr>
        <p:spPr>
          <a:xfrm>
            <a:off x="6896100" y="2942590"/>
            <a:ext cx="11430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No Pose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709E448-D1B3-411B-9197-43C95AD916D2}"/>
              </a:ext>
            </a:extLst>
          </p:cNvPr>
          <p:cNvSpPr>
            <a:spLocks noGrp="1"/>
          </p:cNvSpPr>
          <p:nvPr/>
        </p:nvSpPr>
        <p:spPr>
          <a:xfrm>
            <a:off x="8229600" y="294259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1718.64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8149CC5-1204-4846-8014-28409597FEB7}"/>
              </a:ext>
            </a:extLst>
          </p:cNvPr>
          <p:cNvSpPr>
            <a:spLocks noGrp="1"/>
          </p:cNvSpPr>
          <p:nvPr/>
        </p:nvSpPr>
        <p:spPr>
          <a:xfrm>
            <a:off x="9372600" y="294259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0.6668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C4E97FC-FE5D-42BD-B61F-9CE0B0A430F7}"/>
              </a:ext>
            </a:extLst>
          </p:cNvPr>
          <p:cNvSpPr>
            <a:spLocks noGrp="1"/>
          </p:cNvSpPr>
          <p:nvPr/>
        </p:nvSpPr>
        <p:spPr>
          <a:xfrm>
            <a:off x="10515600" y="294259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0.3124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0774A2-134E-43E1-9A95-28718F90659E}"/>
              </a:ext>
            </a:extLst>
          </p:cNvPr>
          <p:cNvSpPr>
            <a:spLocks noGrp="1"/>
          </p:cNvSpPr>
          <p:nvPr/>
        </p:nvSpPr>
        <p:spPr>
          <a:xfrm>
            <a:off x="6800850" y="3220720"/>
            <a:ext cx="1333500" cy="37338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88E1E3-CD8E-4C88-B09B-97EB1CA0869B}"/>
              </a:ext>
            </a:extLst>
          </p:cNvPr>
          <p:cNvSpPr>
            <a:spLocks noGrp="1"/>
          </p:cNvSpPr>
          <p:nvPr/>
        </p:nvSpPr>
        <p:spPr>
          <a:xfrm>
            <a:off x="6896100" y="3315970"/>
            <a:ext cx="11430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No Qwen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04AEB3A-DB0D-4130-9750-71C8537A256C}"/>
              </a:ext>
            </a:extLst>
          </p:cNvPr>
          <p:cNvSpPr>
            <a:spLocks noGrp="1"/>
          </p:cNvSpPr>
          <p:nvPr/>
        </p:nvSpPr>
        <p:spPr>
          <a:xfrm>
            <a:off x="8134350" y="3220720"/>
            <a:ext cx="1143000" cy="37338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8ED55BF-8E36-4017-A6D4-CC1166A5DF90}"/>
              </a:ext>
            </a:extLst>
          </p:cNvPr>
          <p:cNvSpPr>
            <a:spLocks noGrp="1"/>
          </p:cNvSpPr>
          <p:nvPr/>
        </p:nvSpPr>
        <p:spPr>
          <a:xfrm>
            <a:off x="8229600" y="331597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776.45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41A0728-46DB-4B68-9715-79391AB27752}"/>
              </a:ext>
            </a:extLst>
          </p:cNvPr>
          <p:cNvSpPr>
            <a:spLocks noGrp="1"/>
          </p:cNvSpPr>
          <p:nvPr/>
        </p:nvSpPr>
        <p:spPr>
          <a:xfrm>
            <a:off x="9277350" y="3220720"/>
            <a:ext cx="1143000" cy="37338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F875B4C-C974-4CAA-8148-2B1BDA6867F6}"/>
              </a:ext>
            </a:extLst>
          </p:cNvPr>
          <p:cNvSpPr>
            <a:spLocks noGrp="1"/>
          </p:cNvSpPr>
          <p:nvPr/>
        </p:nvSpPr>
        <p:spPr>
          <a:xfrm>
            <a:off x="9372600" y="331597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0.5652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D13B8B5-3CFD-4CB6-AFC7-21DEABDCB85E}"/>
              </a:ext>
            </a:extLst>
          </p:cNvPr>
          <p:cNvSpPr>
            <a:spLocks noGrp="1"/>
          </p:cNvSpPr>
          <p:nvPr/>
        </p:nvSpPr>
        <p:spPr>
          <a:xfrm>
            <a:off x="10420350" y="3220720"/>
            <a:ext cx="1143000" cy="373380"/>
          </a:xfrm>
          <a:prstGeom prst="rect">
            <a:avLst/>
          </a:prstGeom>
          <a:solidFill>
            <a:srgbClr val="F3F8FD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D321BD6-3085-4619-9A40-950235690A22}"/>
              </a:ext>
            </a:extLst>
          </p:cNvPr>
          <p:cNvSpPr>
            <a:spLocks noGrp="1"/>
          </p:cNvSpPr>
          <p:nvPr/>
        </p:nvSpPr>
        <p:spPr>
          <a:xfrm>
            <a:off x="10515600" y="3315970"/>
            <a:ext cx="952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0.4284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BFCF9FA-0EF8-47AA-A375-7D7EF65C2513}"/>
              </a:ext>
            </a:extLst>
          </p:cNvPr>
          <p:cNvSpPr>
            <a:spLocks noGrp="1"/>
          </p:cNvSpPr>
          <p:nvPr/>
        </p:nvSpPr>
        <p:spPr>
          <a:xfrm>
            <a:off x="6848475" y="4070350"/>
            <a:ext cx="2190750" cy="1047750"/>
          </a:xfrm>
          <a:prstGeom prst="roundRect">
            <a:avLst>
              <a:gd name="adj" fmla="val 10909"/>
            </a:avLst>
          </a:prstGeom>
          <a:solidFill>
            <a:srgbClr val="EEEFFE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CC944B0-5445-47E6-9E33-7C30A683F07D}"/>
              </a:ext>
            </a:extLst>
          </p:cNvPr>
          <p:cNvSpPr>
            <a:spLocks noGrp="1"/>
          </p:cNvSpPr>
          <p:nvPr/>
        </p:nvSpPr>
        <p:spPr>
          <a:xfrm>
            <a:off x="7019925" y="4241800"/>
            <a:ext cx="57150" cy="40005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6A318A-07C8-4C5D-AC0B-ECB049C53610}"/>
              </a:ext>
            </a:extLst>
          </p:cNvPr>
          <p:cNvSpPr>
            <a:spLocks noGrp="1"/>
          </p:cNvSpPr>
          <p:nvPr/>
        </p:nvSpPr>
        <p:spPr>
          <a:xfrm>
            <a:off x="7096125" y="4139565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Depth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8A144E9-8886-4E5F-B9B4-7908F9050036}"/>
              </a:ext>
            </a:extLst>
          </p:cNvPr>
          <p:cNvSpPr>
            <a:spLocks noGrp="1"/>
          </p:cNvSpPr>
          <p:nvPr/>
        </p:nvSpPr>
        <p:spPr>
          <a:xfrm>
            <a:off x="7191375" y="4382770"/>
            <a:ext cx="1695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提供遮挡、距离和局部几何边界，帮助避免向遮挡物方向移动</a:t>
            </a:r>
            <a:endParaRPr sz="12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C72E1EC1-B410-4C6C-95F7-9B3CD497B768}"/>
              </a:ext>
            </a:extLst>
          </p:cNvPr>
          <p:cNvSpPr>
            <a:spLocks noGrp="1"/>
          </p:cNvSpPr>
          <p:nvPr/>
        </p:nvSpPr>
        <p:spPr>
          <a:xfrm>
            <a:off x="9372600" y="4070350"/>
            <a:ext cx="2190750" cy="1047750"/>
          </a:xfrm>
          <a:prstGeom prst="roundRect">
            <a:avLst>
              <a:gd name="adj" fmla="val 10909"/>
            </a:avLst>
          </a:prstGeom>
          <a:solidFill>
            <a:srgbClr val="FFF5D6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1439D73-75F4-4AB9-BFDB-126B4DFFDD35}"/>
              </a:ext>
            </a:extLst>
          </p:cNvPr>
          <p:cNvSpPr>
            <a:spLocks noGrp="1"/>
          </p:cNvSpPr>
          <p:nvPr/>
        </p:nvSpPr>
        <p:spPr>
          <a:xfrm>
            <a:off x="9544050" y="4241800"/>
            <a:ext cx="57150" cy="4000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EF3E4AA-7B9C-48B3-954E-03471B06F397}"/>
              </a:ext>
            </a:extLst>
          </p:cNvPr>
          <p:cNvSpPr>
            <a:spLocks noGrp="1"/>
          </p:cNvSpPr>
          <p:nvPr/>
        </p:nvSpPr>
        <p:spPr>
          <a:xfrm>
            <a:off x="9620250" y="4139565"/>
            <a:ext cx="1695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Pose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0B895FE-56E6-4C57-86B9-1909581546BB}"/>
              </a:ext>
            </a:extLst>
          </p:cNvPr>
          <p:cNvSpPr>
            <a:spLocks noGrp="1"/>
          </p:cNvSpPr>
          <p:nvPr/>
        </p:nvSpPr>
        <p:spPr>
          <a:xfrm>
            <a:off x="9715500" y="4382770"/>
            <a:ext cx="1695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帮助理解当前相机状态和动作后的空间变化</a:t>
            </a:r>
            <a:endParaRPr sz="12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11CFD79-84A1-481E-890B-43A9069300F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927C487-B4CD-4683-827E-AF6D240C4083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C0A161F-89A2-486A-B6C8-8D7112E1C3DF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23987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809652C-B78D-46E9-A1CF-F0137E26EB7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06 EXPERIMENT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909E52-EEF8-4CF3-B76D-D4823A61138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Stay 阈值与类别均衡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A96959-1139-4FE1-80FA-F11CB77CE63B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97B2C5-2A59-464A-81DE-A212F92663B3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Stay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能减少低收益移动，但阈值过高会让策略过于保守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865748-75B8-43A2-AE59-050239A322A3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79077"/>
            <a:ext cx="5570180" cy="2961197"/>
          </a:xfrm>
          <a:prstGeom prst="roundRect">
            <a:avLst>
              <a:gd name="adj" fmla="val 2424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37BCB4-D94D-4783-B60A-F00EB8281F53}"/>
              </a:ext>
            </a:extLst>
          </p:cNvPr>
          <p:cNvSpPr>
            <a:spLocks noGrp="1"/>
          </p:cNvSpPr>
          <p:nvPr/>
        </p:nvSpPr>
        <p:spPr>
          <a:xfrm>
            <a:off x="6661150" y="1447800"/>
            <a:ext cx="5119688" cy="17145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D8EB72-1E32-42C7-A96D-B0D962AC135C}"/>
              </a:ext>
            </a:extLst>
          </p:cNvPr>
          <p:cNvSpPr>
            <a:spLocks noGrp="1"/>
          </p:cNvSpPr>
          <p:nvPr/>
        </p:nvSpPr>
        <p:spPr>
          <a:xfrm>
            <a:off x="6661150" y="1447800"/>
            <a:ext cx="1023938" cy="428625"/>
          </a:xfrm>
          <a:prstGeom prst="rect">
            <a:avLst/>
          </a:prstGeom>
          <a:solidFill>
            <a:srgbClr val="182B49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541A0C-9F97-4775-B0AD-94D7A7EA8CFD}"/>
              </a:ext>
            </a:extLst>
          </p:cNvPr>
          <p:cNvSpPr>
            <a:spLocks noGrp="1"/>
          </p:cNvSpPr>
          <p:nvPr/>
        </p:nvSpPr>
        <p:spPr>
          <a:xfrm>
            <a:off x="6756400" y="154305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Threshold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17B547-6A38-40C7-AA0B-DFB97561A348}"/>
              </a:ext>
            </a:extLst>
          </p:cNvPr>
          <p:cNvSpPr>
            <a:spLocks noGrp="1"/>
          </p:cNvSpPr>
          <p:nvPr/>
        </p:nvSpPr>
        <p:spPr>
          <a:xfrm>
            <a:off x="7613650" y="1447800"/>
            <a:ext cx="1023938" cy="428625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831D93-BDFC-4284-BF1C-BBACC6CE9F47}"/>
              </a:ext>
            </a:extLst>
          </p:cNvPr>
          <p:cNvSpPr>
            <a:spLocks noGrp="1"/>
          </p:cNvSpPr>
          <p:nvPr/>
        </p:nvSpPr>
        <p:spPr>
          <a:xfrm>
            <a:off x="7708900" y="154305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Accuracy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7F0EBE-7587-4171-AE71-55D01A69DF08}"/>
              </a:ext>
            </a:extLst>
          </p:cNvPr>
          <p:cNvSpPr>
            <a:spLocks noGrp="1"/>
          </p:cNvSpPr>
          <p:nvPr/>
        </p:nvSpPr>
        <p:spPr>
          <a:xfrm>
            <a:off x="8566150" y="1447800"/>
            <a:ext cx="1023938" cy="428625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EF2489-86A1-479A-BA73-49C7229EC505}"/>
              </a:ext>
            </a:extLst>
          </p:cNvPr>
          <p:cNvSpPr>
            <a:spLocks noGrp="1"/>
          </p:cNvSpPr>
          <p:nvPr/>
        </p:nvSpPr>
        <p:spPr>
          <a:xfrm>
            <a:off x="8661400" y="154305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Positive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8C7C5E-B397-48C4-8BCD-02F78A600615}"/>
              </a:ext>
            </a:extLst>
          </p:cNvPr>
          <p:cNvSpPr>
            <a:spLocks noGrp="1"/>
          </p:cNvSpPr>
          <p:nvPr/>
        </p:nvSpPr>
        <p:spPr>
          <a:xfrm>
            <a:off x="9518650" y="1447800"/>
            <a:ext cx="1023938" cy="428625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A2692E-5557-4DCD-8339-9E38DF5C8722}"/>
              </a:ext>
            </a:extLst>
          </p:cNvPr>
          <p:cNvSpPr>
            <a:spLocks noGrp="1"/>
          </p:cNvSpPr>
          <p:nvPr/>
        </p:nvSpPr>
        <p:spPr>
          <a:xfrm>
            <a:off x="9613900" y="154305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Negative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977088-4F43-4096-8EA3-6202FD857898}"/>
              </a:ext>
            </a:extLst>
          </p:cNvPr>
          <p:cNvSpPr>
            <a:spLocks noGrp="1"/>
          </p:cNvSpPr>
          <p:nvPr/>
        </p:nvSpPr>
        <p:spPr>
          <a:xfrm>
            <a:off x="10471150" y="1447800"/>
            <a:ext cx="1023938" cy="428625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9FBC66-1781-4B0A-8E38-027259388B1C}"/>
              </a:ext>
            </a:extLst>
          </p:cNvPr>
          <p:cNvSpPr>
            <a:spLocks noGrp="1"/>
          </p:cNvSpPr>
          <p:nvPr/>
        </p:nvSpPr>
        <p:spPr>
          <a:xfrm>
            <a:off x="10566400" y="154305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Stay Pred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06E1B1-30A4-4058-AF8C-3E39D5D15785}"/>
              </a:ext>
            </a:extLst>
          </p:cNvPr>
          <p:cNvSpPr>
            <a:spLocks noGrp="1"/>
          </p:cNvSpPr>
          <p:nvPr/>
        </p:nvSpPr>
        <p:spPr>
          <a:xfrm>
            <a:off x="6756400" y="197167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C06CD7-CCA1-4D9F-AC8F-7466389C947E}"/>
              </a:ext>
            </a:extLst>
          </p:cNvPr>
          <p:cNvSpPr>
            <a:spLocks noGrp="1"/>
          </p:cNvSpPr>
          <p:nvPr/>
        </p:nvSpPr>
        <p:spPr>
          <a:xfrm>
            <a:off x="7708900" y="197167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0.458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33DB8C-3C5E-4641-96F2-826BC54A992F}"/>
              </a:ext>
            </a:extLst>
          </p:cNvPr>
          <p:cNvSpPr>
            <a:spLocks noGrp="1"/>
          </p:cNvSpPr>
          <p:nvPr/>
        </p:nvSpPr>
        <p:spPr>
          <a:xfrm>
            <a:off x="8661400" y="197167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0.685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AA8F58-D831-4F79-ABD0-F3BB57B2BC76}"/>
              </a:ext>
            </a:extLst>
          </p:cNvPr>
          <p:cNvSpPr>
            <a:spLocks noGrp="1"/>
          </p:cNvSpPr>
          <p:nvPr/>
        </p:nvSpPr>
        <p:spPr>
          <a:xfrm>
            <a:off x="9613900" y="197167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0.307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12F893-8C59-4EF0-9C29-783851D650F3}"/>
              </a:ext>
            </a:extLst>
          </p:cNvPr>
          <p:cNvSpPr>
            <a:spLocks noGrp="1"/>
          </p:cNvSpPr>
          <p:nvPr/>
        </p:nvSpPr>
        <p:spPr>
          <a:xfrm>
            <a:off x="10566400" y="197167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6FCB70D-E8ED-43BB-9FF6-4CB316A04985}"/>
              </a:ext>
            </a:extLst>
          </p:cNvPr>
          <p:cNvSpPr>
            <a:spLocks noGrp="1"/>
          </p:cNvSpPr>
          <p:nvPr/>
        </p:nvSpPr>
        <p:spPr>
          <a:xfrm>
            <a:off x="6661150" y="2305050"/>
            <a:ext cx="1023938" cy="428625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EC74D2-A545-479D-8C54-211244C73343}"/>
              </a:ext>
            </a:extLst>
          </p:cNvPr>
          <p:cNvSpPr>
            <a:spLocks noGrp="1"/>
          </p:cNvSpPr>
          <p:nvPr/>
        </p:nvSpPr>
        <p:spPr>
          <a:xfrm>
            <a:off x="6756400" y="240030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200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B0FA4A-7321-450B-8999-0D5D58E36B8A}"/>
              </a:ext>
            </a:extLst>
          </p:cNvPr>
          <p:cNvSpPr>
            <a:spLocks noGrp="1"/>
          </p:cNvSpPr>
          <p:nvPr/>
        </p:nvSpPr>
        <p:spPr>
          <a:xfrm>
            <a:off x="7613650" y="2305050"/>
            <a:ext cx="1023938" cy="428625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EF0DFE-FB83-4A64-9BA7-A5B6F952DECA}"/>
              </a:ext>
            </a:extLst>
          </p:cNvPr>
          <p:cNvSpPr>
            <a:spLocks noGrp="1"/>
          </p:cNvSpPr>
          <p:nvPr/>
        </p:nvSpPr>
        <p:spPr>
          <a:xfrm>
            <a:off x="7708900" y="240030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0.456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5BA8593-8E6D-4F00-8093-B4CB97EB12E2}"/>
              </a:ext>
            </a:extLst>
          </p:cNvPr>
          <p:cNvSpPr>
            <a:spLocks noGrp="1"/>
          </p:cNvSpPr>
          <p:nvPr/>
        </p:nvSpPr>
        <p:spPr>
          <a:xfrm>
            <a:off x="8566150" y="2305050"/>
            <a:ext cx="1023938" cy="428625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B330A26-008A-4D84-BEB2-FA9781608F28}"/>
              </a:ext>
            </a:extLst>
          </p:cNvPr>
          <p:cNvSpPr>
            <a:spLocks noGrp="1"/>
          </p:cNvSpPr>
          <p:nvPr/>
        </p:nvSpPr>
        <p:spPr>
          <a:xfrm>
            <a:off x="8661400" y="240030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rPr>
              <a:t>0.679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E675270-089B-4F66-A8EC-A6C7BF98EE28}"/>
              </a:ext>
            </a:extLst>
          </p:cNvPr>
          <p:cNvSpPr>
            <a:spLocks noGrp="1"/>
          </p:cNvSpPr>
          <p:nvPr/>
        </p:nvSpPr>
        <p:spPr>
          <a:xfrm>
            <a:off x="9518650" y="2305050"/>
            <a:ext cx="1023938" cy="428625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33151C5-E416-48C8-B335-81872A65B6BD}"/>
              </a:ext>
            </a:extLst>
          </p:cNvPr>
          <p:cNvSpPr>
            <a:spLocks noGrp="1"/>
          </p:cNvSpPr>
          <p:nvPr/>
        </p:nvSpPr>
        <p:spPr>
          <a:xfrm>
            <a:off x="9613900" y="240030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CCB8E"/>
                </a:solidFill>
                <a:latin typeface="Noto Sans SC"/>
                <a:ea typeface="Noto Sans SC"/>
                <a:cs typeface="Noto Sans SC"/>
              </a:rPr>
              <a:t>0.296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E8ED71E-0A3B-497D-A434-BC7A6B29EE5C}"/>
              </a:ext>
            </a:extLst>
          </p:cNvPr>
          <p:cNvSpPr>
            <a:spLocks noGrp="1"/>
          </p:cNvSpPr>
          <p:nvPr/>
        </p:nvSpPr>
        <p:spPr>
          <a:xfrm>
            <a:off x="10471150" y="2305050"/>
            <a:ext cx="1023938" cy="428625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3F86256-EE3E-451E-8A9F-B119442BB253}"/>
              </a:ext>
            </a:extLst>
          </p:cNvPr>
          <p:cNvSpPr>
            <a:spLocks noGrp="1"/>
          </p:cNvSpPr>
          <p:nvPr/>
        </p:nvSpPr>
        <p:spPr>
          <a:xfrm>
            <a:off x="10566400" y="2400300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98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F75F24-55C3-4335-A294-387A0CB39D00}"/>
              </a:ext>
            </a:extLst>
          </p:cNvPr>
          <p:cNvSpPr>
            <a:spLocks noGrp="1"/>
          </p:cNvSpPr>
          <p:nvPr/>
        </p:nvSpPr>
        <p:spPr>
          <a:xfrm>
            <a:off x="6756400" y="282892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500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17B7D38-1A0E-4887-9FC1-86094C409D0F}"/>
              </a:ext>
            </a:extLst>
          </p:cNvPr>
          <p:cNvSpPr>
            <a:spLocks noGrp="1"/>
          </p:cNvSpPr>
          <p:nvPr/>
        </p:nvSpPr>
        <p:spPr>
          <a:xfrm>
            <a:off x="7708900" y="282892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0.426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5082C44-C5BF-4CC2-AFCD-201B0CB1E4C9}"/>
              </a:ext>
            </a:extLst>
          </p:cNvPr>
          <p:cNvSpPr>
            <a:spLocks noGrp="1"/>
          </p:cNvSpPr>
          <p:nvPr/>
        </p:nvSpPr>
        <p:spPr>
          <a:xfrm>
            <a:off x="8661400" y="282892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0.611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D845664-EBB6-4555-B550-FE1DC94AAE00}"/>
              </a:ext>
            </a:extLst>
          </p:cNvPr>
          <p:cNvSpPr>
            <a:spLocks noGrp="1"/>
          </p:cNvSpPr>
          <p:nvPr/>
        </p:nvSpPr>
        <p:spPr>
          <a:xfrm>
            <a:off x="9613900" y="282892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0.229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4D1368-657E-45FB-A97C-6421B523165A}"/>
              </a:ext>
            </a:extLst>
          </p:cNvPr>
          <p:cNvSpPr>
            <a:spLocks noGrp="1"/>
          </p:cNvSpPr>
          <p:nvPr/>
        </p:nvSpPr>
        <p:spPr>
          <a:xfrm>
            <a:off x="10566400" y="2828925"/>
            <a:ext cx="819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781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A7496D8-372D-4576-84A9-D4CEA5C63C98}"/>
              </a:ext>
            </a:extLst>
          </p:cNvPr>
          <p:cNvSpPr>
            <a:spLocks noGrp="1"/>
          </p:cNvSpPr>
          <p:nvPr/>
        </p:nvSpPr>
        <p:spPr>
          <a:xfrm>
            <a:off x="6661150" y="3562350"/>
            <a:ext cx="5119688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F9F32DA-1304-4A6E-ADCF-C313B481CA25}"/>
              </a:ext>
            </a:extLst>
          </p:cNvPr>
          <p:cNvSpPr>
            <a:spLocks noGrp="1"/>
          </p:cNvSpPr>
          <p:nvPr/>
        </p:nvSpPr>
        <p:spPr>
          <a:xfrm>
            <a:off x="6661149" y="3562350"/>
            <a:ext cx="1433513" cy="476250"/>
          </a:xfrm>
          <a:prstGeom prst="rect">
            <a:avLst/>
          </a:prstGeom>
          <a:solidFill>
            <a:srgbClr val="182B49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3D04E85-1FE6-473B-8BD1-8E78FD3A8CE8}"/>
              </a:ext>
            </a:extLst>
          </p:cNvPr>
          <p:cNvSpPr>
            <a:spLocks noGrp="1"/>
          </p:cNvSpPr>
          <p:nvPr/>
        </p:nvSpPr>
        <p:spPr>
          <a:xfrm>
            <a:off x="6756399" y="3657600"/>
            <a:ext cx="1228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Model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7C6A153-C815-49D5-A7E1-BDCA78005650}"/>
              </a:ext>
            </a:extLst>
          </p:cNvPr>
          <p:cNvSpPr>
            <a:spLocks noGrp="1"/>
          </p:cNvSpPr>
          <p:nvPr/>
        </p:nvSpPr>
        <p:spPr>
          <a:xfrm>
            <a:off x="7994649" y="3562350"/>
            <a:ext cx="1228725" cy="4762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9CCF664-8860-43EC-BBA3-5EB50FBA99D8}"/>
              </a:ext>
            </a:extLst>
          </p:cNvPr>
          <p:cNvSpPr>
            <a:spLocks noGrp="1"/>
          </p:cNvSpPr>
          <p:nvPr/>
        </p:nvSpPr>
        <p:spPr>
          <a:xfrm>
            <a:off x="8089900" y="3657600"/>
            <a:ext cx="10239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Macro F1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2ED16DB-E9A4-4236-8C49-20660908C458}"/>
              </a:ext>
            </a:extLst>
          </p:cNvPr>
          <p:cNvSpPr>
            <a:spLocks noGrp="1"/>
          </p:cNvSpPr>
          <p:nvPr/>
        </p:nvSpPr>
        <p:spPr>
          <a:xfrm>
            <a:off x="9137649" y="3562350"/>
            <a:ext cx="1228725" cy="4762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3E0B912-F78C-4890-ADD5-521C76C974F5}"/>
              </a:ext>
            </a:extLst>
          </p:cNvPr>
          <p:cNvSpPr>
            <a:spLocks noGrp="1"/>
          </p:cNvSpPr>
          <p:nvPr/>
        </p:nvSpPr>
        <p:spPr>
          <a:xfrm>
            <a:off x="9232900" y="3657600"/>
            <a:ext cx="10239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Mean Gain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900F81B-EF6D-4411-94AD-8A84286DCC4B}"/>
              </a:ext>
            </a:extLst>
          </p:cNvPr>
          <p:cNvSpPr>
            <a:spLocks noGrp="1"/>
          </p:cNvSpPr>
          <p:nvPr/>
        </p:nvSpPr>
        <p:spPr>
          <a:xfrm>
            <a:off x="10280649" y="3562350"/>
            <a:ext cx="1228725" cy="4762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67BDAC4-2518-4B28-B9D4-6DBA3189E18C}"/>
              </a:ext>
            </a:extLst>
          </p:cNvPr>
          <p:cNvSpPr>
            <a:spLocks noGrp="1"/>
          </p:cNvSpPr>
          <p:nvPr/>
        </p:nvSpPr>
        <p:spPr>
          <a:xfrm>
            <a:off x="10375900" y="3657600"/>
            <a:ext cx="10239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Stay Recall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784C196-C6D4-4FA7-98AC-3583C153AABC}"/>
              </a:ext>
            </a:extLst>
          </p:cNvPr>
          <p:cNvSpPr>
            <a:spLocks noGrp="1"/>
          </p:cNvSpPr>
          <p:nvPr/>
        </p:nvSpPr>
        <p:spPr>
          <a:xfrm>
            <a:off x="6756399" y="4133850"/>
            <a:ext cx="1228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Full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1EAF2FA-4900-4831-9150-11ACCD31F164}"/>
              </a:ext>
            </a:extLst>
          </p:cNvPr>
          <p:cNvSpPr>
            <a:spLocks noGrp="1"/>
          </p:cNvSpPr>
          <p:nvPr/>
        </p:nvSpPr>
        <p:spPr>
          <a:xfrm>
            <a:off x="8089900" y="4133850"/>
            <a:ext cx="10239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0.3320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4187E09-9E5C-47D1-B24F-B16899E42699}"/>
              </a:ext>
            </a:extLst>
          </p:cNvPr>
          <p:cNvSpPr>
            <a:spLocks noGrp="1"/>
          </p:cNvSpPr>
          <p:nvPr/>
        </p:nvSpPr>
        <p:spPr>
          <a:xfrm>
            <a:off x="9232900" y="4133850"/>
            <a:ext cx="10239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1777.62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77CE7BC-64EB-4BD9-8FD0-D3872225F90F}"/>
              </a:ext>
            </a:extLst>
          </p:cNvPr>
          <p:cNvSpPr>
            <a:spLocks noGrp="1"/>
          </p:cNvSpPr>
          <p:nvPr/>
        </p:nvSpPr>
        <p:spPr>
          <a:xfrm>
            <a:off x="10375900" y="4133850"/>
            <a:ext cx="10239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0.0678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26F2D87-9D64-4E6A-9CD5-778878C0AB69}"/>
              </a:ext>
            </a:extLst>
          </p:cNvPr>
          <p:cNvSpPr>
            <a:spLocks noGrp="1"/>
          </p:cNvSpPr>
          <p:nvPr/>
        </p:nvSpPr>
        <p:spPr>
          <a:xfrm>
            <a:off x="6661149" y="4514850"/>
            <a:ext cx="1433513" cy="476250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61E06D5-6C26-4017-BC25-D4DF5D75FFD3}"/>
              </a:ext>
            </a:extLst>
          </p:cNvPr>
          <p:cNvSpPr>
            <a:spLocks noGrp="1"/>
          </p:cNvSpPr>
          <p:nvPr/>
        </p:nvSpPr>
        <p:spPr>
          <a:xfrm>
            <a:off x="6756399" y="4610100"/>
            <a:ext cx="1228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Class-balanced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B60BFCA-FBB5-45B3-9BF6-280F044F71DA}"/>
              </a:ext>
            </a:extLst>
          </p:cNvPr>
          <p:cNvSpPr>
            <a:spLocks noGrp="1"/>
          </p:cNvSpPr>
          <p:nvPr/>
        </p:nvSpPr>
        <p:spPr>
          <a:xfrm>
            <a:off x="7994649" y="4514850"/>
            <a:ext cx="1228725" cy="476250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28B61CE-5298-4323-95BA-21EF0F16880D}"/>
              </a:ext>
            </a:extLst>
          </p:cNvPr>
          <p:cNvSpPr>
            <a:spLocks noGrp="1"/>
          </p:cNvSpPr>
          <p:nvPr/>
        </p:nvSpPr>
        <p:spPr>
          <a:xfrm>
            <a:off x="8089900" y="4610100"/>
            <a:ext cx="10239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0.4108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62ED8EC-A375-46B3-A2CC-6371EAFBE807}"/>
              </a:ext>
            </a:extLst>
          </p:cNvPr>
          <p:cNvSpPr>
            <a:spLocks noGrp="1"/>
          </p:cNvSpPr>
          <p:nvPr/>
        </p:nvSpPr>
        <p:spPr>
          <a:xfrm>
            <a:off x="9137649" y="4514850"/>
            <a:ext cx="1228725" cy="476250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8E145C0-1F46-497B-AEBD-96799FD83450}"/>
              </a:ext>
            </a:extLst>
          </p:cNvPr>
          <p:cNvSpPr>
            <a:spLocks noGrp="1"/>
          </p:cNvSpPr>
          <p:nvPr/>
        </p:nvSpPr>
        <p:spPr>
          <a:xfrm>
            <a:off x="9232900" y="4610100"/>
            <a:ext cx="10239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1536.64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B03C56C-8645-4179-9E89-620E5DB7FDFF}"/>
              </a:ext>
            </a:extLst>
          </p:cNvPr>
          <p:cNvSpPr>
            <a:spLocks noGrp="1"/>
          </p:cNvSpPr>
          <p:nvPr/>
        </p:nvSpPr>
        <p:spPr>
          <a:xfrm>
            <a:off x="10280649" y="4514850"/>
            <a:ext cx="1228725" cy="476250"/>
          </a:xfrm>
          <a:prstGeom prst="rect">
            <a:avLst/>
          </a:prstGeom>
          <a:solidFill>
            <a:srgbClr val="EAF8FE"/>
          </a:solidFill>
          <a:ln w="0"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073B885-DC89-4CE3-8865-FFC1D805C883}"/>
              </a:ext>
            </a:extLst>
          </p:cNvPr>
          <p:cNvSpPr>
            <a:spLocks noGrp="1"/>
          </p:cNvSpPr>
          <p:nvPr/>
        </p:nvSpPr>
        <p:spPr>
          <a:xfrm>
            <a:off x="10375900" y="4610100"/>
            <a:ext cx="1023938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6C63FF"/>
                </a:solidFill>
                <a:latin typeface="Noto Sans SC"/>
                <a:ea typeface="Noto Sans SC"/>
                <a:cs typeface="Noto Sans SC"/>
              </a:rPr>
              <a:t>0.5367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957B7124-F9A6-4FA4-8274-6B4B35EF7E37}"/>
              </a:ext>
            </a:extLst>
          </p:cNvPr>
          <p:cNvSpPr>
            <a:spLocks noGrp="1"/>
          </p:cNvSpPr>
          <p:nvPr/>
        </p:nvSpPr>
        <p:spPr>
          <a:xfrm>
            <a:off x="698500" y="5334000"/>
            <a:ext cx="10528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结论：默认采用</a:t>
            </a:r>
            <a:r>
              <a:rPr sz="1600" b="0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 stay-threshold = 200，在保持较高 mean gain </a:t>
            </a:r>
            <a:r>
              <a:rPr sz="1600" b="0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的同时降低</a:t>
            </a:r>
            <a:r>
              <a:rPr sz="1600" b="0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 negative gain </a:t>
            </a:r>
            <a:r>
              <a:rPr sz="1600" b="0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rate。Class-balanced</a:t>
            </a:r>
            <a:r>
              <a:rPr sz="1600" b="0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600" b="0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能显著提升</a:t>
            </a:r>
            <a:r>
              <a:rPr sz="1600" b="0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 Stay </a:t>
            </a:r>
            <a:r>
              <a:rPr sz="1600" b="0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recall，但会牺牲平均收益</a:t>
            </a:r>
            <a:endParaRPr sz="1600" b="0" dirty="0">
              <a:solidFill>
                <a:srgbClr val="1020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248BC21-A963-42CB-A121-50DA97BB446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EFE0AA8-F7B3-4436-880E-C81EBFDEA628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6DAA457-8768-41E1-A660-8970A063F364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9481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970F33A-5473-44DB-B813-D4E354F3774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07 VISUALIZATION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0D277F-9192-4BB7-A363-776093BC08B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定性案例分析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BB6E5C-89EE-4B6D-9CA1-395D55C5B50D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824DAA-88C2-45C4-9BE4-0760AB2DD04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每行一个样本，三列分别为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RGB、Depth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和模型预测动作后的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Result。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DB9171-5D03-4CA1-BC52-B843EC283F24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05581" y="1447800"/>
            <a:ext cx="3980838" cy="4762500"/>
          </a:xfrm>
          <a:prstGeom prst="roundRect">
            <a:avLst>
              <a:gd name="adj" fmla="val 1600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170AA2A-9952-4218-BC47-635D978242B2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B7EA40-1049-4448-8E19-C5FBC9ED013B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4D8DE7-6754-4214-9885-0A29A463DEBD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7990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6DFB343-FC7F-475F-89CE-A7DAA12C807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07 VISUALIZATION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BD477A-6AAD-4B3F-B9E6-DC93078C1B6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3-5 步 Greedy Rollout Demo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B19498-FF2A-4C0A-A9EA-20670E95AC44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E2624E-10FD-465F-AA04-DD5FD16E5A9B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离线单步收益不等于闭环稳定，多步演示用于观察累积效果和失败模式</a:t>
            </a:r>
            <a:r>
              <a:rPr sz="16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333A09-028E-4D57-8D86-E4CC70178BD5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271715"/>
            <a:ext cx="7163984" cy="2605085"/>
          </a:xfrm>
          <a:prstGeom prst="roundRect">
            <a:avLst>
              <a:gd name="adj" fmla="val 2000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24C9EE0E-CC38-473E-88B0-7B9DEC72A3FB}"/>
              </a:ext>
            </a:extLst>
          </p:cNvPr>
          <p:cNvSpPr>
            <a:spLocks noGrp="1"/>
          </p:cNvSpPr>
          <p:nvPr/>
        </p:nvSpPr>
        <p:spPr>
          <a:xfrm>
            <a:off x="7905750" y="1666875"/>
            <a:ext cx="3238500" cy="1095375"/>
          </a:xfrm>
          <a:prstGeom prst="roundRect">
            <a:avLst>
              <a:gd name="adj" fmla="val 10435"/>
            </a:avLst>
          </a:prstGeom>
          <a:solidFill>
            <a:srgbClr val="E4F7FC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CB7D89-1CBF-4F25-AC6F-2692104EFEEC}"/>
              </a:ext>
            </a:extLst>
          </p:cNvPr>
          <p:cNvSpPr>
            <a:spLocks noGrp="1"/>
          </p:cNvSpPr>
          <p:nvPr/>
        </p:nvSpPr>
        <p:spPr>
          <a:xfrm>
            <a:off x="8077200" y="1838325"/>
            <a:ext cx="57150" cy="40005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D6CBA7-AE09-4D96-96B5-69DCB5463DF9}"/>
              </a:ext>
            </a:extLst>
          </p:cNvPr>
          <p:cNvSpPr>
            <a:spLocks noGrp="1"/>
          </p:cNvSpPr>
          <p:nvPr/>
        </p:nvSpPr>
        <p:spPr>
          <a:xfrm>
            <a:off x="8229600" y="175260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 dirty="0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MP4 demo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2B7958-6A1D-43C8-A0CA-B7E28EA0B644}"/>
              </a:ext>
            </a:extLst>
          </p:cNvPr>
          <p:cNvSpPr>
            <a:spLocks noGrp="1"/>
          </p:cNvSpPr>
          <p:nvPr/>
        </p:nvSpPr>
        <p:spPr>
          <a:xfrm>
            <a:off x="8229600" y="2019300"/>
            <a:ext cx="27432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本地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MP4：greedy_rollout_demo.mp4</a:t>
            </a:r>
          </a:p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包含多个测试样本的连续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rollout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1DBFD56-31B8-4139-B293-756BA0AE5634}"/>
              </a:ext>
            </a:extLst>
          </p:cNvPr>
          <p:cNvSpPr>
            <a:spLocks noGrp="1"/>
          </p:cNvSpPr>
          <p:nvPr/>
        </p:nvSpPr>
        <p:spPr>
          <a:xfrm>
            <a:off x="7905750" y="3095625"/>
            <a:ext cx="3238500" cy="1095375"/>
          </a:xfrm>
          <a:prstGeom prst="roundRect">
            <a:avLst>
              <a:gd name="adj" fmla="val 10435"/>
            </a:avLst>
          </a:prstGeom>
          <a:solidFill>
            <a:srgbClr val="FFF5D6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D9D140-2E99-452F-AD49-E725F4AC39F2}"/>
              </a:ext>
            </a:extLst>
          </p:cNvPr>
          <p:cNvSpPr>
            <a:spLocks noGrp="1"/>
          </p:cNvSpPr>
          <p:nvPr/>
        </p:nvSpPr>
        <p:spPr>
          <a:xfrm>
            <a:off x="8077200" y="3267075"/>
            <a:ext cx="57150" cy="4000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C716D3-E021-4A9B-8DCF-DE16079581C4}"/>
              </a:ext>
            </a:extLst>
          </p:cNvPr>
          <p:cNvSpPr>
            <a:spLocks noGrp="1"/>
          </p:cNvSpPr>
          <p:nvPr/>
        </p:nvSpPr>
        <p:spPr>
          <a:xfrm>
            <a:off x="8229600" y="318135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观察点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9A83AD-A55C-42D4-A006-1C9A85BFE903}"/>
              </a:ext>
            </a:extLst>
          </p:cNvPr>
          <p:cNvSpPr>
            <a:spLocks noGrp="1"/>
          </p:cNvSpPr>
          <p:nvPr/>
        </p:nvSpPr>
        <p:spPr>
          <a:xfrm>
            <a:off x="8229600" y="3448050"/>
            <a:ext cx="27432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前两步可能提升可见性，但连续贪心执行可能过度移动，导致后续视角变差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746696C-CC2B-4919-8140-B7840067D3E2}"/>
              </a:ext>
            </a:extLst>
          </p:cNvPr>
          <p:cNvSpPr>
            <a:spLocks noGrp="1"/>
          </p:cNvSpPr>
          <p:nvPr/>
        </p:nvSpPr>
        <p:spPr>
          <a:xfrm>
            <a:off x="7905750" y="4524375"/>
            <a:ext cx="3238500" cy="904875"/>
          </a:xfrm>
          <a:prstGeom prst="roundRect">
            <a:avLst>
              <a:gd name="adj" fmla="val 12632"/>
            </a:avLst>
          </a:prstGeom>
          <a:solidFill>
            <a:srgbClr val="EEEFFE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440E27-AFAF-4535-BFAD-15236633C840}"/>
              </a:ext>
            </a:extLst>
          </p:cNvPr>
          <p:cNvSpPr>
            <a:spLocks noGrp="1"/>
          </p:cNvSpPr>
          <p:nvPr/>
        </p:nvSpPr>
        <p:spPr>
          <a:xfrm>
            <a:off x="8077200" y="4695825"/>
            <a:ext cx="57150" cy="40005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167FA9-5FB7-424B-B91B-EB8D2D136322}"/>
              </a:ext>
            </a:extLst>
          </p:cNvPr>
          <p:cNvSpPr>
            <a:spLocks noGrp="1"/>
          </p:cNvSpPr>
          <p:nvPr/>
        </p:nvSpPr>
        <p:spPr>
          <a:xfrm>
            <a:off x="8229600" y="4610100"/>
            <a:ext cx="274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 dirty="0" err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下一步</a:t>
            </a:r>
            <a:endParaRPr sz="1350" b="1" dirty="0">
              <a:solidFill>
                <a:srgbClr val="1020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CE392C-BC9A-4A71-8AA0-CADA591DC72F}"/>
              </a:ext>
            </a:extLst>
          </p:cNvPr>
          <p:cNvSpPr>
            <a:spLocks noGrp="1"/>
          </p:cNvSpPr>
          <p:nvPr/>
        </p:nvSpPr>
        <p:spPr>
          <a:xfrm>
            <a:off x="8229600" y="4876800"/>
            <a:ext cx="2743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引入多步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reward、move-vs-stay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二阶段策略和显式动作代价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77D69D-B8A6-4643-8D0F-962DEC0A8F1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CB8264-3F8E-43D4-AA50-CB5E2CF1FC06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CC07D1-1742-4917-94FD-F6BD94B97357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852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20E5B990-9E88-4233-B264-093681FF553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00A9E0"/>
                </a:solidFill>
                <a:latin typeface="Noto Sans SC"/>
                <a:ea typeface="Noto Sans SC"/>
                <a:cs typeface="Noto Sans SC"/>
              </a:rPr>
              <a:t>08 NEXT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E2A4B2-77EA-4967-86B9-16DA43C382FB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当前局限与下一步计划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85ED3E-0D6A-46DF-BEDE-6C7A233D963C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2571750" cy="381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6BAE63-6752-4A42-82E4-9ED3161ED120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当前结果已经验证路线可行，但距离稳定的 TA agent 仍需要闭环和下游评估。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0B58D0-2FB5-44C8-B6B0-E73B3CD7DB54}"/>
              </a:ext>
            </a:extLst>
          </p:cNvPr>
          <p:cNvSpPr>
            <a:spLocks noGrp="1"/>
          </p:cNvSpPr>
          <p:nvPr/>
        </p:nvSpPr>
        <p:spPr>
          <a:xfrm>
            <a:off x="10382250" y="3238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See2Move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82A43CC-22B6-4A74-88F4-62BEAF4672BA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FF5D6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17BC8E-2266-4B1C-B684-AF313A09BCE6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57150" cy="40005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595000-9321-4125-8C52-EE3AADE48BD6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局限 1：Stay 难预测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23FC08-06B5-438A-9119-E0D6FC6E3C40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Full 的 Stay recall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仍低，说明“不移动”不是简单阈值能完全解决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1DA1F0-1F6F-4FBD-9DEF-8C95D7E9E3D6}"/>
              </a:ext>
            </a:extLst>
          </p:cNvPr>
          <p:cNvSpPr>
            <a:spLocks noGrp="1"/>
          </p:cNvSpPr>
          <p:nvPr/>
        </p:nvSpPr>
        <p:spPr>
          <a:xfrm>
            <a:off x="4524375" y="1524000"/>
            <a:ext cx="3143250" cy="1428750"/>
          </a:xfrm>
          <a:prstGeom prst="roundRect">
            <a:avLst>
              <a:gd name="adj" fmla="val 8000"/>
            </a:avLst>
          </a:prstGeom>
          <a:solidFill>
            <a:srgbClr val="FEECEC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3152AD-0D96-43EC-9BB5-130197F6A90D}"/>
              </a:ext>
            </a:extLst>
          </p:cNvPr>
          <p:cNvSpPr>
            <a:spLocks noGrp="1"/>
          </p:cNvSpPr>
          <p:nvPr/>
        </p:nvSpPr>
        <p:spPr>
          <a:xfrm>
            <a:off x="4695825" y="1695450"/>
            <a:ext cx="57150" cy="400050"/>
          </a:xfrm>
          <a:prstGeom prst="rect">
            <a:avLst/>
          </a:prstGeom>
          <a:solidFill>
            <a:srgbClr val="F05252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8DC48D-4922-4FB7-9219-46419951BB52}"/>
              </a:ext>
            </a:extLst>
          </p:cNvPr>
          <p:cNvSpPr>
            <a:spLocks noGrp="1"/>
          </p:cNvSpPr>
          <p:nvPr/>
        </p:nvSpPr>
        <p:spPr>
          <a:xfrm>
            <a:off x="4848225" y="1676400"/>
            <a:ext cx="2647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局限 2：多步闭环不足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C54788-181C-4D5D-8BF6-745D0AA0C175}"/>
              </a:ext>
            </a:extLst>
          </p:cNvPr>
          <p:cNvSpPr>
            <a:spLocks noGrp="1"/>
          </p:cNvSpPr>
          <p:nvPr/>
        </p:nvSpPr>
        <p:spPr>
          <a:xfrm>
            <a:off x="4848225" y="2019300"/>
            <a:ext cx="26479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单步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gain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预测在连续执行时可能出现过度移动和累积误差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281EAB-EB00-438C-93F9-A7B4833DEDF4}"/>
              </a:ext>
            </a:extLst>
          </p:cNvPr>
          <p:cNvSpPr>
            <a:spLocks noGrp="1"/>
          </p:cNvSpPr>
          <p:nvPr/>
        </p:nvSpPr>
        <p:spPr>
          <a:xfrm>
            <a:off x="8382000" y="152400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EEEFFE"/>
          </a:solidFill>
          <a:ln w="9525">
            <a:solidFill>
              <a:srgbClr val="D9E6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C338B2-32AD-42F5-B0E1-8D374818D36E}"/>
              </a:ext>
            </a:extLst>
          </p:cNvPr>
          <p:cNvSpPr>
            <a:spLocks noGrp="1"/>
          </p:cNvSpPr>
          <p:nvPr/>
        </p:nvSpPr>
        <p:spPr>
          <a:xfrm>
            <a:off x="8553450" y="1695450"/>
            <a:ext cx="57150" cy="40005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D7AB36-6DE9-4D5C-8663-90C8777BEAAE}"/>
              </a:ext>
            </a:extLst>
          </p:cNvPr>
          <p:cNvSpPr>
            <a:spLocks noGrp="1"/>
          </p:cNvSpPr>
          <p:nvPr/>
        </p:nvSpPr>
        <p:spPr>
          <a:xfrm>
            <a:off x="8705850" y="16764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局限 3：显式目标为主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C2E51F-1D5F-450D-9FDA-187BB838AA6A}"/>
              </a:ext>
            </a:extLst>
          </p:cNvPr>
          <p:cNvSpPr>
            <a:spLocks noGrp="1"/>
          </p:cNvSpPr>
          <p:nvPr/>
        </p:nvSpPr>
        <p:spPr>
          <a:xfrm>
            <a:off x="8705850" y="2019300"/>
            <a:ext cx="23622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当前监督依赖目标</a:t>
            </a:r>
            <a:r>
              <a:rPr sz="1400" b="0" dirty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 instance </a:t>
            </a:r>
            <a:r>
              <a:rPr sz="1400" b="0" dirty="0" err="1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mask，隐式区域任务仍需扩展</a:t>
            </a:r>
            <a:endParaRPr sz="1400" b="0" dirty="0">
              <a:solidFill>
                <a:srgbClr val="5B6B7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8A6E92-FBE6-4E48-8C49-D9717A74714C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下一阶段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7A3FA9-B015-494C-AFF3-559DBB2A74A6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76200" cy="457200"/>
          </a:xfrm>
          <a:prstGeom prst="rect">
            <a:avLst/>
          </a:prstGeom>
          <a:solidFill>
            <a:srgbClr val="00A9E0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B15D8D-0A97-4358-90BB-2326E5261347}"/>
              </a:ext>
            </a:extLst>
          </p:cNvPr>
          <p:cNvSpPr>
            <a:spLocks noGrp="1"/>
          </p:cNvSpPr>
          <p:nvPr/>
        </p:nvSpPr>
        <p:spPr>
          <a:xfrm>
            <a:off x="1181100" y="40957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接入 SceneReVis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7046B30-CAD5-4480-A1E5-FE68F93258E1}"/>
              </a:ext>
            </a:extLst>
          </p:cNvPr>
          <p:cNvSpPr>
            <a:spLocks noGrp="1"/>
          </p:cNvSpPr>
          <p:nvPr/>
        </p:nvSpPr>
        <p:spPr>
          <a:xfrm>
            <a:off x="1181100" y="43815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评估视角调整对最终摆放质量的影响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63FB56-B834-4DC4-8000-82F69C752237}"/>
              </a:ext>
            </a:extLst>
          </p:cNvPr>
          <p:cNvSpPr>
            <a:spLocks noGrp="1"/>
          </p:cNvSpPr>
          <p:nvPr/>
        </p:nvSpPr>
        <p:spPr>
          <a:xfrm>
            <a:off x="6096000" y="4095750"/>
            <a:ext cx="76200" cy="457200"/>
          </a:xfrm>
          <a:prstGeom prst="rect">
            <a:avLst/>
          </a:prstGeom>
          <a:solidFill>
            <a:srgbClr val="6C63FF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A7862D-2F02-4938-82DD-94436697A8C8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隐式操作区域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827C84-F001-46F0-B967-2E63EF2A94FA}"/>
              </a:ext>
            </a:extLst>
          </p:cNvPr>
          <p:cNvSpPr>
            <a:spLocks noGrp="1"/>
          </p:cNvSpPr>
          <p:nvPr/>
        </p:nvSpPr>
        <p:spPr>
          <a:xfrm>
            <a:off x="6324600" y="43815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从“看清物体”迁移到“寻找桌下/床边可用空间”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AE364B-0C27-459B-B2D0-2B6337201D27}"/>
              </a:ext>
            </a:extLst>
          </p:cNvPr>
          <p:cNvSpPr>
            <a:spLocks noGrp="1"/>
          </p:cNvSpPr>
          <p:nvPr/>
        </p:nvSpPr>
        <p:spPr>
          <a:xfrm>
            <a:off x="952500" y="4876800"/>
            <a:ext cx="76200" cy="457200"/>
          </a:xfrm>
          <a:prstGeom prst="rect">
            <a:avLst/>
          </a:prstGeom>
          <a:solidFill>
            <a:srgbClr val="FFB000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569163-D35E-40FB-94F9-910802A9210B}"/>
              </a:ext>
            </a:extLst>
          </p:cNvPr>
          <p:cNvSpPr>
            <a:spLocks noGrp="1"/>
          </p:cNvSpPr>
          <p:nvPr/>
        </p:nvSpPr>
        <p:spPr>
          <a:xfrm>
            <a:off x="1181100" y="48768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二阶段决策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EDF6C5-82ED-4E47-BB14-84EDF3B7D283}"/>
              </a:ext>
            </a:extLst>
          </p:cNvPr>
          <p:cNvSpPr>
            <a:spLocks noGrp="1"/>
          </p:cNvSpPr>
          <p:nvPr/>
        </p:nvSpPr>
        <p:spPr>
          <a:xfrm>
            <a:off x="1181100" y="51625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先判断 move vs stay，再选择具体移动动作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EAE6F59-3A9A-4312-BDCA-3BA6F1E6E30B}"/>
              </a:ext>
            </a:extLst>
          </p:cNvPr>
          <p:cNvSpPr>
            <a:spLocks noGrp="1"/>
          </p:cNvSpPr>
          <p:nvPr/>
        </p:nvSpPr>
        <p:spPr>
          <a:xfrm>
            <a:off x="6096000" y="4876800"/>
            <a:ext cx="76200" cy="457200"/>
          </a:xfrm>
          <a:prstGeom prst="rect">
            <a:avLst/>
          </a:prstGeom>
          <a:solidFill>
            <a:srgbClr val="2CCB8E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449DB0-C6DB-401B-9538-EF92E834FB87}"/>
              </a:ext>
            </a:extLst>
          </p:cNvPr>
          <p:cNvSpPr>
            <a:spLocks noGrp="1"/>
          </p:cNvSpPr>
          <p:nvPr/>
        </p:nvSpPr>
        <p:spPr>
          <a:xfrm>
            <a:off x="6324600" y="48768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02033"/>
                </a:solidFill>
                <a:latin typeface="Noto Sans SC"/>
                <a:ea typeface="Noto Sans SC"/>
                <a:cs typeface="Noto Sans SC"/>
              </a:rPr>
              <a:t>多步训练/评估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9E09E4-854A-4547-AD70-CBA659634429}"/>
              </a:ext>
            </a:extLst>
          </p:cNvPr>
          <p:cNvSpPr>
            <a:spLocks noGrp="1"/>
          </p:cNvSpPr>
          <p:nvPr/>
        </p:nvSpPr>
        <p:spPr>
          <a:xfrm>
            <a:off x="6324600" y="51625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用 3-5 步闭环 reward 替代纯单步离线评估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BC6A712-BFBB-4B7A-877B-0E28C316E91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9525"/>
          </a:xfrm>
          <a:prstGeom prst="rect">
            <a:avLst/>
          </a:prstGeom>
          <a:solidFill>
            <a:srgbClr val="D9E6F2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5925118-2EBB-48F1-AAC3-136D64262903}"/>
              </a:ext>
            </a:extLst>
          </p:cNvPr>
          <p:cNvSpPr>
            <a:spLocks noGrp="1"/>
          </p:cNvSpPr>
          <p:nvPr/>
        </p:nvSpPr>
        <p:spPr>
          <a:xfrm>
            <a:off x="609600" y="65722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多模态智能系统 · 期末项目汇报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7275A09-D04B-4CD4-948C-90EFC55F7CDC}"/>
              </a:ext>
            </a:extLst>
          </p:cNvPr>
          <p:cNvSpPr>
            <a:spLocks noGrp="1"/>
          </p:cNvSpPr>
          <p:nvPr/>
        </p:nvSpPr>
        <p:spPr>
          <a:xfrm>
            <a:off x="11144250" y="65722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B6B7F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616232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973</Words>
  <Application>Microsoft Office PowerPoint</Application>
  <DocSecurity>0</DocSecurity>
  <PresentationFormat>宽屏</PresentationFormat>
  <Paragraphs>357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Noto Sans SC</vt:lpstr>
      <vt:lpstr>Aptos Mono</vt:lpstr>
      <vt:lpstr>Bookman Old Style</vt:lpstr>
      <vt:lpstr>Calibri</vt:lpstr>
      <vt:lpstr>Cambria Math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Weijia Li</cp:lastModifiedBy>
  <cp:revision>28</cp:revision>
  <dcterms:created xsi:type="dcterms:W3CDTF">2026-06-17T04:47:40Z</dcterms:created>
  <dcterms:modified xsi:type="dcterms:W3CDTF">2026-06-17T05:09:42Z</dcterms:modified>
</cp:coreProperties>
</file>